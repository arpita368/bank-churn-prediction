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8" r:id="rId3"/>
    <p:sldId id="259" r:id="rId4"/>
    <p:sldId id="260" r:id="rId5"/>
    <p:sldId id="261" r:id="rId6"/>
    <p:sldId id="288" r:id="rId7"/>
    <p:sldId id="285" r:id="rId8"/>
    <p:sldId id="286" r:id="rId9"/>
    <p:sldId id="287" r:id="rId10"/>
    <p:sldId id="284" r:id="rId11"/>
    <p:sldId id="275" r:id="rId12"/>
    <p:sldId id="276" r:id="rId13"/>
    <p:sldId id="277" r:id="rId14"/>
    <p:sldId id="279" r:id="rId15"/>
    <p:sldId id="280" r:id="rId16"/>
    <p:sldId id="281" r:id="rId17"/>
    <p:sldId id="282" r:id="rId18"/>
    <p:sldId id="289" r:id="rId19"/>
    <p:sldId id="290" r:id="rId20"/>
    <p:sldId id="283" r:id="rId21"/>
  </p:sldIdLst>
  <p:sldSz cx="9144000" cy="5143500" type="screen16x9"/>
  <p:notesSz cx="6858000" cy="9144000"/>
  <p:embeddedFontLst>
    <p:embeddedFont>
      <p:font typeface="Cambria Math" panose="02040503050406030204" pitchFamily="18"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VV9ytdDCvY9/DKOwnGLOsmuB7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53" name="Google Shape;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73" name="Google Shape;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79" name="Google Shape;7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85" name="Google Shape;8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a:extLst>
            <a:ext uri="{FF2B5EF4-FFF2-40B4-BE49-F238E27FC236}">
              <a16:creationId xmlns:a16="http://schemas.microsoft.com/office/drawing/2014/main" id="{A6F423C9-7C79-47AA-7AE1-06C5B6EEA34E}"/>
            </a:ext>
          </a:extLst>
        </p:cNvPr>
        <p:cNvGrpSpPr/>
        <p:nvPr/>
      </p:nvGrpSpPr>
      <p:grpSpPr>
        <a:xfrm>
          <a:off x="0" y="0"/>
          <a:ext cx="0" cy="0"/>
          <a:chOff x="0" y="0"/>
          <a:chExt cx="0" cy="0"/>
        </a:xfrm>
      </p:grpSpPr>
      <p:sp>
        <p:nvSpPr>
          <p:cNvPr id="84" name="Google Shape;84;p5:notes">
            <a:extLst>
              <a:ext uri="{FF2B5EF4-FFF2-40B4-BE49-F238E27FC236}">
                <a16:creationId xmlns:a16="http://schemas.microsoft.com/office/drawing/2014/main" id="{636554E7-9B90-0C55-4F12-0633203748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85" name="Google Shape;85;p5:notes">
            <a:extLst>
              <a:ext uri="{FF2B5EF4-FFF2-40B4-BE49-F238E27FC236}">
                <a16:creationId xmlns:a16="http://schemas.microsoft.com/office/drawing/2014/main" id="{CC7E26B5-ACF0-7BF5-D659-487E744344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9597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DA2E87FC-997D-FBDC-70E6-9413ACC548B6}"/>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9DAC2D9E-EC7C-3B55-ADD6-A40EFDA20E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D6D04748-B005-4179-B566-782C5C0C5E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081495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390A68D6-9134-5A04-769A-EB6DF0CAE3D8}"/>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FE9116E5-3426-385B-9CA4-160781A87F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18460DE2-B272-A06D-4655-A674ACAF7A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12602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175D83B5-5B29-7152-F90F-3D35B0B9776D}"/>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01DF6F7A-5F13-EDEB-09F6-62FF835AB4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42D62BCC-B023-FD6F-DF8D-EF7D2D8C12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11529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883540C1-4196-1BF0-0248-A48BAD8496C0}"/>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7E135AFF-0B97-23B6-EC31-9F1B8A9242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06DB9568-783C-2F7C-F0BA-5EE144F26B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058058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60F28ED8-E504-EBDA-3540-8577A5B56220}"/>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4374B8A1-BA27-E5DD-2809-A6A7B359DE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A4349CAD-D78B-C738-E8D5-11A93C566C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46712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F8C7B204-90AC-4A5C-3C89-8A480459ED4B}"/>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0808CCCF-E810-75E5-4496-911EC033D6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77ABE2F7-3DBC-4385-9543-9BE22C935E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103771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839EF992-28ED-D1C1-078F-F433523C92B5}"/>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951B9340-F053-72BE-DFCD-EE2477A8F1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A86EC86D-D5A0-CF93-6BC2-6A6F8C05DC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5902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4A1BEE49-E318-9442-0153-85BE8DDD13E5}"/>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4A4ABDAA-E5DB-915F-B659-3EE5025E86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6642E2B7-D43D-29B1-5FAD-324ADDDDCB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95530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BEE01FDB-0F8E-2892-21A6-711C69E36E34}"/>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A6902853-D19F-BA0F-B122-2244C0B61B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53BA2B0A-B63A-06DC-BCEF-2368A24795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251874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A98F2ACC-BC87-4F3E-F55A-C5D97721D409}"/>
            </a:ext>
          </a:extLst>
        </p:cNvPr>
        <p:cNvGrpSpPr/>
        <p:nvPr/>
      </p:nvGrpSpPr>
      <p:grpSpPr>
        <a:xfrm>
          <a:off x="0" y="0"/>
          <a:ext cx="0" cy="0"/>
          <a:chOff x="0" y="0"/>
          <a:chExt cx="0" cy="0"/>
        </a:xfrm>
      </p:grpSpPr>
      <p:sp>
        <p:nvSpPr>
          <p:cNvPr id="90" name="Google Shape;90;p6:notes">
            <a:extLst>
              <a:ext uri="{FF2B5EF4-FFF2-40B4-BE49-F238E27FC236}">
                <a16:creationId xmlns:a16="http://schemas.microsoft.com/office/drawing/2014/main" id="{F51156DF-B565-0895-7199-7B282496D7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dirty="0"/>
          </a:p>
        </p:txBody>
      </p:sp>
      <p:sp>
        <p:nvSpPr>
          <p:cNvPr id="91" name="Google Shape;91;p6:notes">
            <a:extLst>
              <a:ext uri="{FF2B5EF4-FFF2-40B4-BE49-F238E27FC236}">
                <a16:creationId xmlns:a16="http://schemas.microsoft.com/office/drawing/2014/main" id="{69283594-58A6-C9DD-57B4-0DE2EED9E6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221990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6" name="Google Shape;16;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 name="Google Shape;17;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1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0" name="Google Shape;2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12"/>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12"/>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8" name="Google Shape;2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1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1" name="Google Shape;31;p1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5" name="Google Shape;3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8" name="Google Shape;38;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1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1" name="Google Shape;4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7"/>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4" name="Google Shape;44;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8"/>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18"/>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8" name="Google Shape;4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dirty="0"/>
          </a:p>
        </p:txBody>
      </p:sp>
      <p:pic>
        <p:nvPicPr>
          <p:cNvPr id="9" name="Google Shape;9;p8"/>
          <p:cNvPicPr preferRelativeResize="0"/>
          <p:nvPr/>
        </p:nvPicPr>
        <p:blipFill rotWithShape="1">
          <a:blip r:embed="rId13">
            <a:alphaModFix amt="3000"/>
          </a:blip>
          <a:srcRect/>
          <a:stretch/>
        </p:blipFill>
        <p:spPr>
          <a:xfrm>
            <a:off x="2000263" y="0"/>
            <a:ext cx="5143499" cy="51434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arpita.j.sonparote2317@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github.com/Arpita368/Bank-Churn-Prediction/blob/main/outputs/predictions.csv" TargetMode="External"/><Relationship Id="rId4" Type="http://schemas.openxmlformats.org/officeDocument/2006/relationships/hyperlink" Target="https://github.com/Arpita368/Bank-Churn-Predic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3" name="Picture 2">
            <a:extLst>
              <a:ext uri="{FF2B5EF4-FFF2-40B4-BE49-F238E27FC236}">
                <a16:creationId xmlns:a16="http://schemas.microsoft.com/office/drawing/2014/main" id="{5B50C156-8FCE-CB88-F271-F45976E2CED3}"/>
              </a:ext>
            </a:extLst>
          </p:cNvPr>
          <p:cNvPicPr>
            <a:picLocks noChangeAspect="1"/>
          </p:cNvPicPr>
          <p:nvPr/>
        </p:nvPicPr>
        <p:blipFill>
          <a:blip r:embed="rId3"/>
          <a:stretch>
            <a:fillRect/>
          </a:stretch>
        </p:blipFill>
        <p:spPr>
          <a:xfrm>
            <a:off x="15397" y="0"/>
            <a:ext cx="9113206" cy="5143500"/>
          </a:xfrm>
          <a:prstGeom prst="rect">
            <a:avLst/>
          </a:prstGeom>
        </p:spPr>
      </p:pic>
      <p:sp>
        <p:nvSpPr>
          <p:cNvPr id="55" name="Google Shape;55;p1"/>
          <p:cNvSpPr txBox="1">
            <a:spLocks noGrp="1"/>
          </p:cNvSpPr>
          <p:nvPr>
            <p:ph type="ctrTitle"/>
          </p:nvPr>
        </p:nvSpPr>
        <p:spPr>
          <a:xfrm>
            <a:off x="311700" y="370652"/>
            <a:ext cx="8520600" cy="1346400"/>
          </a:xfrm>
          <a:prstGeom prst="rect">
            <a:avLst/>
          </a:prstGeom>
          <a:noFill/>
          <a:ln>
            <a:noFill/>
          </a:ln>
        </p:spPr>
        <p:txBody>
          <a:bodyPr spcFirstLastPara="1" wrap="square" lIns="91425" tIns="91425" rIns="91425" bIns="91425" anchor="b" anchorCtr="0">
            <a:normAutofit/>
          </a:bodyPr>
          <a:lstStyle/>
          <a:p>
            <a:pPr lvl="0"/>
            <a:r>
              <a:rPr lang="en-IN" dirty="0">
                <a:latin typeface="Times New Roman" panose="02020603050405020304" pitchFamily="18" charset="0"/>
                <a:cs typeface="Times New Roman" panose="02020603050405020304" pitchFamily="18" charset="0"/>
              </a:rPr>
              <a:t>Fractal Forge</a:t>
            </a:r>
            <a:endParaRPr dirty="0">
              <a:latin typeface="Times New Roman" panose="02020603050405020304" pitchFamily="18" charset="0"/>
              <a:ea typeface="Fira Sans"/>
              <a:cs typeface="Times New Roman" panose="02020603050405020304" pitchFamily="18" charset="0"/>
              <a:sym typeface="Fira Sans"/>
            </a:endParaRPr>
          </a:p>
        </p:txBody>
      </p:sp>
      <p:sp>
        <p:nvSpPr>
          <p:cNvPr id="56" name="Google Shape;56;p1"/>
          <p:cNvSpPr txBox="1"/>
          <p:nvPr/>
        </p:nvSpPr>
        <p:spPr>
          <a:xfrm>
            <a:off x="520965" y="2016813"/>
            <a:ext cx="8102069" cy="1015632"/>
          </a:xfrm>
          <a:prstGeom prst="rect">
            <a:avLst/>
          </a:prstGeom>
          <a:noFill/>
          <a:ln>
            <a:noFill/>
          </a:ln>
        </p:spPr>
        <p:txBody>
          <a:bodyPr spcFirstLastPara="1" wrap="square" lIns="91425" tIns="91425" rIns="91425" bIns="91425" anchor="t" anchorCtr="0">
            <a:spAutoFit/>
          </a:bodyPr>
          <a:lstStyle/>
          <a:p>
            <a:pPr marL="114300" marR="0" lvl="0" algn="ctr" rtl="0">
              <a:lnSpc>
                <a:spcPct val="100000"/>
              </a:lnSpc>
              <a:spcBef>
                <a:spcPts val="0"/>
              </a:spcBef>
              <a:spcAft>
                <a:spcPts val="0"/>
              </a:spcAft>
              <a:buClr>
                <a:schemeClr val="dk2"/>
              </a:buClr>
              <a:buSzPts val="1800"/>
            </a:pPr>
            <a:r>
              <a:rPr lang="en-IN"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rPr>
              <a:t>Arpita Jitendra Sonparote</a:t>
            </a:r>
          </a:p>
          <a:p>
            <a:pPr marL="114300" algn="ctr">
              <a:buClr>
                <a:schemeClr val="dk2"/>
              </a:buClr>
              <a:buSzPts val="1800"/>
            </a:pPr>
            <a:r>
              <a:rPr lang="en-IN" sz="1800" dirty="0">
                <a:solidFill>
                  <a:schemeClr val="dk2"/>
                </a:solidFill>
                <a:latin typeface="Times New Roman" panose="02020603050405020304" pitchFamily="18" charset="0"/>
                <a:ea typeface="Fira Sans"/>
                <a:cs typeface="Times New Roman" panose="02020603050405020304" pitchFamily="18" charset="0"/>
                <a:sym typeface="Fira Sans"/>
              </a:rPr>
              <a:t>Aditya Vilas Kandle</a:t>
            </a:r>
            <a:endParaRPr lang="en-IN"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endParaRPr>
          </a:p>
          <a:p>
            <a:pPr marL="114300" marR="0" lvl="0" algn="ctr" rtl="0">
              <a:lnSpc>
                <a:spcPct val="100000"/>
              </a:lnSpc>
              <a:spcBef>
                <a:spcPts val="0"/>
              </a:spcBef>
              <a:spcAft>
                <a:spcPts val="0"/>
              </a:spcAft>
              <a:buClr>
                <a:schemeClr val="dk2"/>
              </a:buClr>
              <a:buSzPts val="1800"/>
            </a:pPr>
            <a:r>
              <a:rPr lang="en-IN" sz="1800" dirty="0">
                <a:solidFill>
                  <a:schemeClr val="dk2"/>
                </a:solidFill>
                <a:latin typeface="Times New Roman" panose="02020603050405020304" pitchFamily="18" charset="0"/>
                <a:ea typeface="Fira Sans"/>
                <a:cs typeface="Times New Roman" panose="02020603050405020304" pitchFamily="18" charset="0"/>
                <a:sym typeface="Fira Sans"/>
              </a:rPr>
              <a:t>Ritesh </a:t>
            </a:r>
            <a:r>
              <a:rPr lang="en-IN" sz="1800" dirty="0" err="1">
                <a:solidFill>
                  <a:schemeClr val="dk2"/>
                </a:solidFill>
                <a:latin typeface="Times New Roman" panose="02020603050405020304" pitchFamily="18" charset="0"/>
                <a:ea typeface="Fira Sans"/>
                <a:cs typeface="Times New Roman" panose="02020603050405020304" pitchFamily="18" charset="0"/>
                <a:sym typeface="Fira Sans"/>
              </a:rPr>
              <a:t>Auodumbar</a:t>
            </a:r>
            <a:r>
              <a:rPr lang="en-IN" sz="1800" dirty="0">
                <a:solidFill>
                  <a:schemeClr val="dk2"/>
                </a:solidFill>
                <a:latin typeface="Times New Roman" panose="02020603050405020304" pitchFamily="18" charset="0"/>
                <a:ea typeface="Fira Sans"/>
                <a:cs typeface="Times New Roman" panose="02020603050405020304" pitchFamily="18" charset="0"/>
                <a:sym typeface="Fira Sans"/>
              </a:rPr>
              <a:t> </a:t>
            </a:r>
            <a:r>
              <a:rPr lang="en-IN" sz="1800" dirty="0" err="1">
                <a:solidFill>
                  <a:schemeClr val="dk2"/>
                </a:solidFill>
                <a:latin typeface="Times New Roman" panose="02020603050405020304" pitchFamily="18" charset="0"/>
                <a:ea typeface="Fira Sans"/>
                <a:cs typeface="Times New Roman" panose="02020603050405020304" pitchFamily="18" charset="0"/>
                <a:sym typeface="Fira Sans"/>
              </a:rPr>
              <a:t>Debadwar</a:t>
            </a:r>
            <a:endParaRPr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endParaRPr>
          </a:p>
        </p:txBody>
      </p:sp>
      <p:sp>
        <p:nvSpPr>
          <p:cNvPr id="57" name="Google Shape;57;p1"/>
          <p:cNvSpPr txBox="1"/>
          <p:nvPr/>
        </p:nvSpPr>
        <p:spPr>
          <a:xfrm>
            <a:off x="812799" y="3527935"/>
            <a:ext cx="7611533" cy="753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rPr>
              <a:t>Email id: </a:t>
            </a:r>
            <a:r>
              <a:rPr lang="en-IN"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hlinkClick r:id="rId4"/>
              </a:rPr>
              <a:t>arpita.j.sonparote2317@gmail.com</a:t>
            </a:r>
            <a:endParaRPr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endParaRPr>
          </a:p>
          <a:p>
            <a:pPr marL="0" marR="0" lvl="0" indent="0" algn="ctr" rtl="0">
              <a:lnSpc>
                <a:spcPct val="100000"/>
              </a:lnSpc>
              <a:spcBef>
                <a:spcPts val="0"/>
              </a:spcBef>
              <a:spcAft>
                <a:spcPts val="0"/>
              </a:spcAft>
              <a:buClr>
                <a:srgbClr val="000000"/>
              </a:buClr>
              <a:buSzPts val="1800"/>
              <a:buFont typeface="Arial"/>
              <a:buNone/>
            </a:pPr>
            <a:r>
              <a:rPr lang="en"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rPr>
              <a:t>Shri Guru Gobind Singhji Institute of Engineering and Technology, Nanded</a:t>
            </a:r>
            <a:endParaRPr sz="1800" b="0" i="0" u="none" strike="noStrike" cap="none" dirty="0">
              <a:solidFill>
                <a:schemeClr val="dk2"/>
              </a:solidFill>
              <a:latin typeface="Times New Roman" panose="02020603050405020304" pitchFamily="18" charset="0"/>
              <a:ea typeface="Fira Sans"/>
              <a:cs typeface="Times New Roman" panose="02020603050405020304" pitchFamily="18" charset="0"/>
              <a:sym typeface="Fir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5" name="Picture 4">
            <a:extLst>
              <a:ext uri="{FF2B5EF4-FFF2-40B4-BE49-F238E27FC236}">
                <a16:creationId xmlns:a16="http://schemas.microsoft.com/office/drawing/2014/main" id="{E6BD28A4-AB71-33EB-D86F-48E8047F71B9}"/>
              </a:ext>
            </a:extLst>
          </p:cNvPr>
          <p:cNvPicPr>
            <a:picLocks noChangeAspect="1"/>
          </p:cNvPicPr>
          <p:nvPr/>
        </p:nvPicPr>
        <p:blipFill>
          <a:blip r:embed="rId3"/>
          <a:stretch>
            <a:fillRect/>
          </a:stretch>
        </p:blipFill>
        <p:spPr>
          <a:xfrm>
            <a:off x="15397" y="0"/>
            <a:ext cx="9113206" cy="5143500"/>
          </a:xfrm>
          <a:prstGeom prst="rect">
            <a:avLst/>
          </a:prstGeom>
        </p:spPr>
      </p:pic>
      <p:sp>
        <p:nvSpPr>
          <p:cNvPr id="68" name="Google Shape;68;p2"/>
          <p:cNvSpPr txBox="1">
            <a:spLocks noGrp="1"/>
          </p:cNvSpPr>
          <p:nvPr>
            <p:ph type="ctrTitle"/>
          </p:nvPr>
        </p:nvSpPr>
        <p:spPr>
          <a:xfrm>
            <a:off x="311700" y="111326"/>
            <a:ext cx="8520600" cy="1037400"/>
          </a:xfrm>
          <a:prstGeom prst="rect">
            <a:avLst/>
          </a:prstGeom>
          <a:noFill/>
          <a:ln>
            <a:noFill/>
          </a:ln>
        </p:spPr>
        <p:txBody>
          <a:bodyPr spcFirstLastPara="1" wrap="square" lIns="91425" tIns="91425" rIns="91425" bIns="91425" anchor="b" anchorCtr="0">
            <a:normAutofit/>
          </a:bodyPr>
          <a:lstStyle/>
          <a:p>
            <a:pPr lvl="0"/>
            <a:r>
              <a:rPr lang="en-IN" sz="4000" dirty="0">
                <a:latin typeface="Times New Roman" panose="02020603050405020304" pitchFamily="18" charset="0"/>
                <a:cs typeface="Times New Roman" panose="02020603050405020304" pitchFamily="18" charset="0"/>
              </a:rPr>
              <a:t>Banking Customer Churn Prediction</a:t>
            </a:r>
            <a:endParaRPr sz="4000" dirty="0">
              <a:latin typeface="Times New Roman" panose="02020603050405020304" pitchFamily="18" charset="0"/>
              <a:ea typeface="Fira Sans"/>
              <a:cs typeface="Times New Roman" panose="02020603050405020304" pitchFamily="18" charset="0"/>
              <a:sym typeface="Fira Sans"/>
            </a:endParaRPr>
          </a:p>
        </p:txBody>
      </p:sp>
      <p:sp>
        <p:nvSpPr>
          <p:cNvPr id="3" name="TextBox 2">
            <a:extLst>
              <a:ext uri="{FF2B5EF4-FFF2-40B4-BE49-F238E27FC236}">
                <a16:creationId xmlns:a16="http://schemas.microsoft.com/office/drawing/2014/main" id="{819CE9DE-BBBC-F5BD-0CC8-1A59CCC554A4}"/>
              </a:ext>
            </a:extLst>
          </p:cNvPr>
          <p:cNvSpPr txBox="1"/>
          <p:nvPr/>
        </p:nvSpPr>
        <p:spPr>
          <a:xfrm>
            <a:off x="506185" y="1515500"/>
            <a:ext cx="8131629" cy="2631490"/>
          </a:xfrm>
          <a:prstGeom prst="rect">
            <a:avLst/>
          </a:prstGeom>
          <a:noFill/>
        </p:spPr>
        <p:txBody>
          <a:bodyPr wrap="square">
            <a:spAutoFit/>
          </a:bodyPr>
          <a:lstStyle/>
          <a:p>
            <a:pPr algn="just">
              <a:buNone/>
            </a:pPr>
            <a:r>
              <a:rPr lang="en-US" sz="1500" dirty="0">
                <a:latin typeface="Times New Roman" panose="02020603050405020304" pitchFamily="18" charset="0"/>
                <a:cs typeface="Times New Roman" panose="02020603050405020304" pitchFamily="18" charset="0"/>
              </a:rPr>
              <a:t>The objective of this project is to </a:t>
            </a:r>
            <a:r>
              <a:rPr lang="en-US" sz="1500" b="1" dirty="0">
                <a:latin typeface="Times New Roman" panose="02020603050405020304" pitchFamily="18" charset="0"/>
                <a:cs typeface="Times New Roman" panose="02020603050405020304" pitchFamily="18" charset="0"/>
              </a:rPr>
              <a:t>predict customer churn </a:t>
            </a:r>
            <a:r>
              <a:rPr lang="en-US" sz="1500" dirty="0">
                <a:latin typeface="Times New Roman" panose="02020603050405020304" pitchFamily="18" charset="0"/>
                <a:cs typeface="Times New Roman" panose="02020603050405020304" pitchFamily="18" charset="0"/>
              </a:rPr>
              <a:t>in a banking context using detailed customer profile, behavioral, transactional, digital engagement, complaint, and marketing response data. Given historical customer data with </a:t>
            </a:r>
            <a:r>
              <a:rPr lang="en-US" sz="1500" b="1" dirty="0">
                <a:latin typeface="Times New Roman" panose="02020603050405020304" pitchFamily="18" charset="0"/>
                <a:cs typeface="Times New Roman" panose="02020603050405020304" pitchFamily="18" charset="0"/>
              </a:rPr>
              <a:t>8,101 labeled records </a:t>
            </a:r>
            <a:r>
              <a:rPr lang="en-US" sz="1500" dirty="0">
                <a:latin typeface="Times New Roman" panose="02020603050405020304" pitchFamily="18" charset="0"/>
                <a:cs typeface="Times New Roman" panose="02020603050405020304" pitchFamily="18" charset="0"/>
              </a:rPr>
              <a:t>and a separate test set of </a:t>
            </a:r>
            <a:r>
              <a:rPr lang="en-US" sz="1500" b="1" dirty="0">
                <a:latin typeface="Times New Roman" panose="02020603050405020304" pitchFamily="18" charset="0"/>
                <a:cs typeface="Times New Roman" panose="02020603050405020304" pitchFamily="18" charset="0"/>
              </a:rPr>
              <a:t>2,026 records without labels</a:t>
            </a:r>
            <a:r>
              <a:rPr lang="en-US" sz="1500" dirty="0">
                <a:latin typeface="Times New Roman" panose="02020603050405020304" pitchFamily="18" charset="0"/>
                <a:cs typeface="Times New Roman" panose="02020603050405020304" pitchFamily="18" charset="0"/>
              </a:rPr>
              <a:t>, the goal is to build a robust machine learning model that can accurately </a:t>
            </a:r>
            <a:r>
              <a:rPr lang="en-US" sz="1500" b="1" dirty="0">
                <a:latin typeface="Times New Roman" panose="02020603050405020304" pitchFamily="18" charset="0"/>
                <a:cs typeface="Times New Roman" panose="02020603050405020304" pitchFamily="18" charset="0"/>
              </a:rPr>
              <a:t>identify</a:t>
            </a:r>
            <a:r>
              <a:rPr lang="en-US" sz="1500" dirty="0">
                <a:latin typeface="Times New Roman" panose="02020603050405020304" pitchFamily="18" charset="0"/>
                <a:cs typeface="Times New Roman" panose="02020603050405020304" pitchFamily="18" charset="0"/>
              </a:rPr>
              <a:t> </a:t>
            </a:r>
            <a:r>
              <a:rPr lang="en-US" sz="1500" b="1" dirty="0">
                <a:latin typeface="Times New Roman" panose="02020603050405020304" pitchFamily="18" charset="0"/>
                <a:cs typeface="Times New Roman" panose="02020603050405020304" pitchFamily="18" charset="0"/>
              </a:rPr>
              <a:t>customers</a:t>
            </a:r>
            <a:r>
              <a:rPr lang="en-US" sz="1500" dirty="0">
                <a:latin typeface="Times New Roman" panose="02020603050405020304" pitchFamily="18" charset="0"/>
                <a:cs typeface="Times New Roman" panose="02020603050405020304" pitchFamily="18" charset="0"/>
              </a:rPr>
              <a:t> who are likely to close their accounts or become inactive in the upcoming period.</a:t>
            </a:r>
          </a:p>
          <a:p>
            <a:pPr algn="just">
              <a:buNone/>
            </a:pPr>
            <a:endParaRPr lang="en-US" sz="1500" dirty="0">
              <a:latin typeface="Times New Roman" panose="02020603050405020304" pitchFamily="18" charset="0"/>
              <a:cs typeface="Times New Roman" panose="02020603050405020304" pitchFamily="18" charset="0"/>
            </a:endParaRPr>
          </a:p>
          <a:p>
            <a:pPr algn="just">
              <a:buNone/>
            </a:pPr>
            <a:r>
              <a:rPr lang="en-US" sz="1500" dirty="0">
                <a:latin typeface="Times New Roman" panose="02020603050405020304" pitchFamily="18" charset="0"/>
                <a:cs typeface="Times New Roman" panose="02020603050405020304" pitchFamily="18" charset="0"/>
              </a:rPr>
              <a:t>The dataset spans </a:t>
            </a:r>
            <a:r>
              <a:rPr lang="en-US" sz="1500" b="1" dirty="0">
                <a:latin typeface="Times New Roman" panose="02020603050405020304" pitchFamily="18" charset="0"/>
                <a:cs typeface="Times New Roman" panose="02020603050405020304" pitchFamily="18" charset="0"/>
              </a:rPr>
              <a:t>97 features </a:t>
            </a:r>
            <a:r>
              <a:rPr lang="en-US" sz="1500" dirty="0">
                <a:latin typeface="Times New Roman" panose="02020603050405020304" pitchFamily="18" charset="0"/>
                <a:cs typeface="Times New Roman" panose="02020603050405020304" pitchFamily="18" charset="0"/>
              </a:rPr>
              <a:t>across </a:t>
            </a:r>
            <a:r>
              <a:rPr lang="en-US" sz="1500" b="1" dirty="0">
                <a:latin typeface="Times New Roman" panose="02020603050405020304" pitchFamily="18" charset="0"/>
                <a:cs typeface="Times New Roman" panose="02020603050405020304" pitchFamily="18" charset="0"/>
              </a:rPr>
              <a:t>multiple dimensions</a:t>
            </a:r>
            <a:r>
              <a:rPr lang="en-US" sz="1500" dirty="0">
                <a:latin typeface="Times New Roman" panose="02020603050405020304" pitchFamily="18" charset="0"/>
                <a:cs typeface="Times New Roman" panose="02020603050405020304" pitchFamily="18" charset="0"/>
              </a:rPr>
              <a:t>, including customer demographics, account activity, product holdings, credit and loan behavior, digital banking usage, service complaints, and retention interactions. The final solution must </a:t>
            </a:r>
            <a:r>
              <a:rPr lang="en-US" sz="1500" b="1" dirty="0">
                <a:latin typeface="Times New Roman" panose="02020603050405020304" pitchFamily="18" charset="0"/>
                <a:cs typeface="Times New Roman" panose="02020603050405020304" pitchFamily="18" charset="0"/>
              </a:rPr>
              <a:t>generate</a:t>
            </a:r>
            <a:r>
              <a:rPr lang="en-US" sz="1500" dirty="0">
                <a:latin typeface="Times New Roman" panose="02020603050405020304" pitchFamily="18" charset="0"/>
                <a:cs typeface="Times New Roman" panose="02020603050405020304" pitchFamily="18" charset="0"/>
              </a:rPr>
              <a:t> churn </a:t>
            </a:r>
            <a:r>
              <a:rPr lang="en-US" sz="1500" b="1" dirty="0">
                <a:latin typeface="Times New Roman" panose="02020603050405020304" pitchFamily="18" charset="0"/>
                <a:cs typeface="Times New Roman" panose="02020603050405020304" pitchFamily="18" charset="0"/>
              </a:rPr>
              <a:t>predictions and probabilities </a:t>
            </a:r>
            <a:r>
              <a:rPr lang="en-US" sz="1500" dirty="0">
                <a:latin typeface="Times New Roman" panose="02020603050405020304" pitchFamily="18" charset="0"/>
                <a:cs typeface="Times New Roman" panose="02020603050405020304" pitchFamily="18" charset="0"/>
              </a:rPr>
              <a:t>for the test set, while ensuring strong predictive performance, minimal data leakage, and clear </a:t>
            </a:r>
            <a:r>
              <a:rPr lang="en-US" sz="1500" b="1" dirty="0">
                <a:latin typeface="Times New Roman" panose="02020603050405020304" pitchFamily="18" charset="0"/>
                <a:cs typeface="Times New Roman" panose="02020603050405020304" pitchFamily="18" charset="0"/>
              </a:rPr>
              <a:t>business</a:t>
            </a:r>
            <a:r>
              <a:rPr lang="en-US" sz="1500" dirty="0">
                <a:latin typeface="Times New Roman" panose="02020603050405020304" pitchFamily="18" charset="0"/>
                <a:cs typeface="Times New Roman" panose="02020603050405020304" pitchFamily="18" charset="0"/>
              </a:rPr>
              <a:t> </a:t>
            </a:r>
            <a:r>
              <a:rPr lang="en-US" sz="1500" b="1" dirty="0">
                <a:latin typeface="Times New Roman" panose="02020603050405020304" pitchFamily="18" charset="0"/>
                <a:cs typeface="Times New Roman" panose="02020603050405020304" pitchFamily="18" charset="0"/>
              </a:rPr>
              <a:t>interpretability</a:t>
            </a:r>
            <a:r>
              <a:rPr lang="en-US" sz="1500" dirty="0">
                <a:latin typeface="Times New Roman" panose="02020603050405020304" pitchFamily="18" charset="0"/>
                <a:cs typeface="Times New Roman" panose="02020603050405020304" pitchFamily="18" charset="0"/>
              </a:rPr>
              <a:t> for decision-making.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4" name="Picture 3">
            <a:extLst>
              <a:ext uri="{FF2B5EF4-FFF2-40B4-BE49-F238E27FC236}">
                <a16:creationId xmlns:a16="http://schemas.microsoft.com/office/drawing/2014/main" id="{4DF85B11-E9E3-67E7-297F-7754787C0B73}"/>
              </a:ext>
            </a:extLst>
          </p:cNvPr>
          <p:cNvPicPr>
            <a:picLocks noChangeAspect="1"/>
          </p:cNvPicPr>
          <p:nvPr/>
        </p:nvPicPr>
        <p:blipFill>
          <a:blip r:embed="rId3"/>
          <a:stretch>
            <a:fillRect/>
          </a:stretch>
        </p:blipFill>
        <p:spPr>
          <a:xfrm>
            <a:off x="15397" y="0"/>
            <a:ext cx="9113206" cy="5151664"/>
          </a:xfrm>
          <a:prstGeom prst="rect">
            <a:avLst/>
          </a:prstGeom>
        </p:spPr>
      </p:pic>
      <p:sp>
        <p:nvSpPr>
          <p:cNvPr id="75" name="Google Shape;75;p3"/>
          <p:cNvSpPr txBox="1">
            <a:spLocks noGrp="1"/>
          </p:cNvSpPr>
          <p:nvPr>
            <p:ph type="title"/>
          </p:nvPr>
        </p:nvSpPr>
        <p:spPr>
          <a:xfrm>
            <a:off x="311700" y="20663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11111"/>
              <a:buNone/>
            </a:pPr>
            <a:r>
              <a:rPr lang="en" sz="3000" dirty="0">
                <a:latin typeface="Times New Roman" panose="02020603050405020304" pitchFamily="18" charset="0"/>
                <a:ea typeface="Fira Sans"/>
                <a:cs typeface="Times New Roman" panose="02020603050405020304" pitchFamily="18" charset="0"/>
                <a:sym typeface="Fira Sans"/>
              </a:rPr>
              <a:t>Project Goals</a:t>
            </a:r>
            <a:endParaRPr sz="3000" dirty="0">
              <a:latin typeface="Times New Roman" panose="02020603050405020304" pitchFamily="18" charset="0"/>
              <a:ea typeface="Fira Sans"/>
              <a:cs typeface="Times New Roman" panose="02020603050405020304" pitchFamily="18" charset="0"/>
              <a:sym typeface="Fira Sans"/>
            </a:endParaRPr>
          </a:p>
        </p:txBody>
      </p:sp>
      <p:sp>
        <p:nvSpPr>
          <p:cNvPr id="76" name="Google Shape;76;p3"/>
          <p:cNvSpPr txBox="1">
            <a:spLocks noGrp="1"/>
          </p:cNvSpPr>
          <p:nvPr>
            <p:ph type="body" idx="1"/>
          </p:nvPr>
        </p:nvSpPr>
        <p:spPr>
          <a:xfrm>
            <a:off x="311700" y="1257299"/>
            <a:ext cx="8520600" cy="3416400"/>
          </a:xfrm>
          <a:prstGeom prst="rect">
            <a:avLst/>
          </a:prstGeom>
          <a:noFill/>
          <a:ln>
            <a:noFill/>
          </a:ln>
        </p:spPr>
        <p:txBody>
          <a:bodyPr spcFirstLastPara="1" wrap="square" lIns="91425" tIns="91425" rIns="91425" bIns="91425" anchor="t" anchorCtr="0">
            <a:normAutofit/>
          </a:bodyPr>
          <a:lstStyle/>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Develop an end-to-end machine learning pipeline for banking customer churn prediction using customer demographic, transactional, digital engagement, and complaint data. </a:t>
            </a:r>
          </a:p>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Identify customers who are likely to leave the bank and enable proactive customer retention strategies. </a:t>
            </a:r>
          </a:p>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Perform exploratory data analysis and feature engineering to uncover key behavioral patterns influencing churn. </a:t>
            </a:r>
          </a:p>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Optimize the model for high Recall, F2-score, and PR-AUC to maximize churn detection capability and reduce missed churn cases. </a:t>
            </a:r>
          </a:p>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Compare multiple machine learning algorithms and select the best-performing model based on business-oriented evaluation metrics. </a:t>
            </a:r>
          </a:p>
          <a:p>
            <a:pPr marL="285750" indent="-285750" algn="just" eaLnBrk="0" fontAlgn="base" hangingPunct="0">
              <a:lnSpc>
                <a:spcPct val="100000"/>
              </a:lnSpc>
              <a:spcBef>
                <a:spcPct val="0"/>
              </a:spcBef>
              <a:spcAft>
                <a:spcPct val="0"/>
              </a:spcAft>
              <a:buClrTx/>
              <a:buSzTx/>
              <a:buFont typeface="Arial" panose="020B0604020202020204" pitchFamily="34" charset="0"/>
              <a:buChar char="•"/>
            </a:pPr>
            <a:r>
              <a:rPr lang="en-US" altLang="en-US" sz="1600" dirty="0">
                <a:solidFill>
                  <a:schemeClr val="tx1"/>
                </a:solidFill>
                <a:latin typeface="Times New Roman" panose="02020603050405020304" pitchFamily="18" charset="0"/>
                <a:cs typeface="Times New Roman" panose="02020603050405020304" pitchFamily="18" charset="0"/>
              </a:rPr>
              <a:t>Generate actionable business insights and churn probability predictions to help banks improve customer retention and reduce revenue loss.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11" name="Picture 10">
            <a:extLst>
              <a:ext uri="{FF2B5EF4-FFF2-40B4-BE49-F238E27FC236}">
                <a16:creationId xmlns:a16="http://schemas.microsoft.com/office/drawing/2014/main" id="{0CED57D0-DD1B-21EA-E293-86F4EC8860D5}"/>
              </a:ext>
            </a:extLst>
          </p:cNvPr>
          <p:cNvPicPr>
            <a:picLocks noChangeAspect="1"/>
          </p:cNvPicPr>
          <p:nvPr/>
        </p:nvPicPr>
        <p:blipFill>
          <a:blip r:embed="rId3"/>
          <a:stretch>
            <a:fillRect/>
          </a:stretch>
        </p:blipFill>
        <p:spPr>
          <a:xfrm>
            <a:off x="15397" y="0"/>
            <a:ext cx="9113206" cy="5143500"/>
          </a:xfrm>
          <a:prstGeom prst="rect">
            <a:avLst/>
          </a:prstGeom>
        </p:spPr>
      </p:pic>
      <p:sp>
        <p:nvSpPr>
          <p:cNvPr id="9" name="Google Shape;75;p3">
            <a:extLst>
              <a:ext uri="{FF2B5EF4-FFF2-40B4-BE49-F238E27FC236}">
                <a16:creationId xmlns:a16="http://schemas.microsoft.com/office/drawing/2014/main" id="{1AFB3DA6-44C3-D018-C120-F32B24C64EF3}"/>
              </a:ext>
            </a:extLst>
          </p:cNvPr>
          <p:cNvSpPr txBox="1">
            <a:spLocks/>
          </p:cNvSpPr>
          <p:nvPr/>
        </p:nvSpPr>
        <p:spPr>
          <a:xfrm>
            <a:off x="311700" y="214799"/>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Dataset Overview and Tech Stack</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82" name="Google Shape;82;p4"/>
          <p:cNvSpPr txBox="1">
            <a:spLocks noGrp="1"/>
          </p:cNvSpPr>
          <p:nvPr>
            <p:ph type="body" idx="1"/>
          </p:nvPr>
        </p:nvSpPr>
        <p:spPr>
          <a:xfrm>
            <a:off x="311700" y="787499"/>
            <a:ext cx="8520599" cy="3416400"/>
          </a:xfrm>
          <a:prstGeom prst="rect">
            <a:avLst/>
          </a:prstGeom>
          <a:noFill/>
          <a:ln>
            <a:noFill/>
          </a:ln>
        </p:spPr>
        <p:txBody>
          <a:bodyPr spcFirstLastPara="1" wrap="square" lIns="91425" tIns="91425" rIns="91425" bIns="91425" anchor="t" anchorCtr="0">
            <a:noAutofit/>
          </a:bodyPr>
          <a:lstStyle/>
          <a:p>
            <a:pPr marL="114300" indent="0" algn="just">
              <a:buNone/>
            </a:pPr>
            <a:r>
              <a:rPr lang="en-IN" sz="1500" b="1" u="sng" dirty="0">
                <a:solidFill>
                  <a:schemeClr val="tx1"/>
                </a:solidFill>
                <a:latin typeface="Times New Roman" panose="02020603050405020304" pitchFamily="18" charset="0"/>
                <a:cs typeface="Times New Roman" panose="02020603050405020304" pitchFamily="18" charset="0"/>
              </a:rPr>
              <a:t>Dataset Used:</a:t>
            </a:r>
          </a:p>
          <a:p>
            <a:pPr marL="114300" indent="0" algn="just">
              <a:buNone/>
            </a:pPr>
            <a:r>
              <a:rPr lang="en-US" sz="1500" dirty="0">
                <a:solidFill>
                  <a:schemeClr val="tx1"/>
                </a:solidFill>
                <a:latin typeface="Times New Roman" panose="02020603050405020304" pitchFamily="18" charset="0"/>
                <a:cs typeface="Times New Roman" panose="02020603050405020304" pitchFamily="18" charset="0"/>
              </a:rPr>
              <a:t>The project uses the </a:t>
            </a:r>
            <a:r>
              <a:rPr lang="en-US" sz="1500" b="1" dirty="0" err="1">
                <a:solidFill>
                  <a:schemeClr val="tx1"/>
                </a:solidFill>
                <a:latin typeface="Times New Roman" panose="02020603050405020304" pitchFamily="18" charset="0"/>
                <a:cs typeface="Times New Roman" panose="02020603050405020304" pitchFamily="18" charset="0"/>
              </a:rPr>
              <a:t>ChurnZero</a:t>
            </a:r>
            <a:r>
              <a:rPr lang="en-US" sz="1500" b="1" dirty="0">
                <a:solidFill>
                  <a:schemeClr val="tx1"/>
                </a:solidFill>
                <a:latin typeface="Times New Roman" panose="02020603050405020304" pitchFamily="18" charset="0"/>
                <a:cs typeface="Times New Roman" panose="02020603050405020304" pitchFamily="18" charset="0"/>
              </a:rPr>
              <a:t> Banking Customer Dataset</a:t>
            </a:r>
            <a:r>
              <a:rPr lang="en-US" sz="1500" dirty="0">
                <a:solidFill>
                  <a:schemeClr val="tx1"/>
                </a:solidFill>
                <a:latin typeface="Times New Roman" panose="02020603050405020304" pitchFamily="18" charset="0"/>
                <a:cs typeface="Times New Roman" panose="02020603050405020304" pitchFamily="18" charset="0"/>
              </a:rPr>
              <a:t>, designed for predicting customer churn behavior in the banking sector.</a:t>
            </a:r>
            <a:endParaRPr lang="en-IN" sz="1500"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sz="1500" b="1" u="sng" dirty="0">
                <a:solidFill>
                  <a:schemeClr val="tx1"/>
                </a:solidFill>
                <a:latin typeface="Times New Roman" panose="02020603050405020304" pitchFamily="18" charset="0"/>
                <a:cs typeface="Times New Roman" panose="02020603050405020304" pitchFamily="18" charset="0"/>
              </a:rPr>
              <a:t>Dataset Information:</a:t>
            </a: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Total Records: </a:t>
            </a:r>
            <a:r>
              <a:rPr lang="en-IN" sz="1500" b="1" dirty="0">
                <a:solidFill>
                  <a:schemeClr val="tx1"/>
                </a:solidFill>
                <a:latin typeface="Times New Roman" panose="02020603050405020304" pitchFamily="18" charset="0"/>
                <a:cs typeface="Times New Roman" panose="02020603050405020304" pitchFamily="18" charset="0"/>
              </a:rPr>
              <a:t>8,101 customers</a:t>
            </a:r>
            <a:r>
              <a:rPr lang="en-IN" sz="1500" dirty="0">
                <a:solidFill>
                  <a:schemeClr val="tx1"/>
                </a:solidFill>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Test Records: </a:t>
            </a:r>
            <a:r>
              <a:rPr lang="en-IN" sz="1500" b="1" dirty="0">
                <a:solidFill>
                  <a:schemeClr val="tx1"/>
                </a:solidFill>
                <a:latin typeface="Times New Roman" panose="02020603050405020304" pitchFamily="18" charset="0"/>
                <a:cs typeface="Times New Roman" panose="02020603050405020304" pitchFamily="18" charset="0"/>
              </a:rPr>
              <a:t>2,026 customer</a:t>
            </a: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Total Features: </a:t>
            </a:r>
            <a:r>
              <a:rPr lang="en-IN" sz="1500" b="1" dirty="0">
                <a:solidFill>
                  <a:schemeClr val="tx1"/>
                </a:solidFill>
                <a:latin typeface="Times New Roman" panose="02020603050405020304" pitchFamily="18" charset="0"/>
                <a:cs typeface="Times New Roman" panose="02020603050405020304" pitchFamily="18" charset="0"/>
              </a:rPr>
              <a:t>97</a:t>
            </a:r>
            <a:endParaRPr lang="en-IN" sz="15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Target Variable: </a:t>
            </a:r>
            <a:r>
              <a:rPr lang="en-IN" sz="1500" b="1" dirty="0">
                <a:solidFill>
                  <a:schemeClr val="tx1"/>
                </a:solidFill>
                <a:latin typeface="Times New Roman" panose="02020603050405020304" pitchFamily="18" charset="0"/>
                <a:cs typeface="Times New Roman" panose="02020603050405020304" pitchFamily="18" charset="0"/>
              </a:rPr>
              <a:t>churn</a:t>
            </a:r>
            <a:endParaRPr lang="en-IN" sz="1500"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Problem Type: </a:t>
            </a:r>
            <a:r>
              <a:rPr lang="en-IN" sz="1500" b="1" dirty="0">
                <a:solidFill>
                  <a:schemeClr val="tx1"/>
                </a:solidFill>
                <a:latin typeface="Times New Roman" panose="02020603050405020304" pitchFamily="18" charset="0"/>
                <a:cs typeface="Times New Roman" panose="02020603050405020304" pitchFamily="18" charset="0"/>
              </a:rPr>
              <a:t>Binary Classification</a:t>
            </a:r>
            <a:r>
              <a:rPr lang="en-IN" sz="1500" dirty="0">
                <a:solidFill>
                  <a:schemeClr val="tx1"/>
                </a:solidFill>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endParaRPr lang="en-IN" sz="1500" dirty="0">
              <a:solidFill>
                <a:schemeClr val="tx1"/>
              </a:solidFill>
              <a:latin typeface="Times New Roman" panose="02020603050405020304" pitchFamily="18" charset="0"/>
              <a:cs typeface="Times New Roman" panose="02020603050405020304" pitchFamily="18" charset="0"/>
            </a:endParaRPr>
          </a:p>
          <a:p>
            <a:pPr marL="114300" indent="0" algn="just">
              <a:buNone/>
            </a:pPr>
            <a:r>
              <a:rPr lang="en-IN" sz="1500" b="1" u="sng" dirty="0">
                <a:solidFill>
                  <a:schemeClr val="tx1"/>
                </a:solidFill>
                <a:latin typeface="Times New Roman" panose="02020603050405020304" pitchFamily="18" charset="0"/>
                <a:cs typeface="Times New Roman" panose="02020603050405020304" pitchFamily="18" charset="0"/>
              </a:rPr>
              <a:t>Target Variable</a:t>
            </a: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0 → Customer Retained </a:t>
            </a:r>
          </a:p>
          <a:p>
            <a:pPr algn="just">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1 → Customer Churned</a:t>
            </a:r>
          </a:p>
        </p:txBody>
      </p:sp>
      <p:sp>
        <p:nvSpPr>
          <p:cNvPr id="3" name="TextBox 2">
            <a:extLst>
              <a:ext uri="{FF2B5EF4-FFF2-40B4-BE49-F238E27FC236}">
                <a16:creationId xmlns:a16="http://schemas.microsoft.com/office/drawing/2014/main" id="{C830DC08-D161-07D8-925D-4FF6F50E9B45}"/>
              </a:ext>
            </a:extLst>
          </p:cNvPr>
          <p:cNvSpPr txBox="1"/>
          <p:nvPr/>
        </p:nvSpPr>
        <p:spPr>
          <a:xfrm>
            <a:off x="3872000" y="1636337"/>
            <a:ext cx="4894984" cy="4478149"/>
          </a:xfrm>
          <a:prstGeom prst="rect">
            <a:avLst/>
          </a:prstGeom>
          <a:noFill/>
        </p:spPr>
        <p:txBody>
          <a:bodyPr wrap="square" numCol="2" rtlCol="0">
            <a:spAutoFit/>
          </a:bodyPr>
          <a:lstStyle/>
          <a:p>
            <a:r>
              <a:rPr lang="en-IN" sz="1500" b="1" u="sng" dirty="0">
                <a:solidFill>
                  <a:schemeClr val="tx1"/>
                </a:solidFill>
                <a:latin typeface="Times New Roman" panose="02020603050405020304" pitchFamily="18" charset="0"/>
                <a:cs typeface="Times New Roman" panose="02020603050405020304" pitchFamily="18" charset="0"/>
              </a:rPr>
              <a:t>Programming Language:</a:t>
            </a:r>
            <a:r>
              <a:rPr lang="en-IN" sz="1500" b="1" dirty="0">
                <a:solidFill>
                  <a:schemeClr val="tx1"/>
                </a:solidFill>
                <a:latin typeface="Times New Roman" panose="02020603050405020304" pitchFamily="18" charset="0"/>
                <a:cs typeface="Times New Roman" panose="02020603050405020304" pitchFamily="18" charset="0"/>
              </a:rPr>
              <a:t> </a:t>
            </a:r>
            <a:r>
              <a:rPr lang="en-IN" sz="1500" dirty="0">
                <a:solidFill>
                  <a:schemeClr val="tx1"/>
                </a:solidFill>
                <a:latin typeface="Times New Roman" panose="02020603050405020304" pitchFamily="18" charset="0"/>
                <a:cs typeface="Times New Roman" panose="02020603050405020304" pitchFamily="18" charset="0"/>
              </a:rPr>
              <a:t>Python</a:t>
            </a:r>
          </a:p>
          <a:p>
            <a:endParaRPr lang="en-IN" sz="1500" dirty="0">
              <a:solidFill>
                <a:schemeClr val="tx1"/>
              </a:solidFill>
              <a:latin typeface="Times New Roman" panose="02020603050405020304" pitchFamily="18" charset="0"/>
              <a:cs typeface="Times New Roman" panose="02020603050405020304" pitchFamily="18" charset="0"/>
            </a:endParaRPr>
          </a:p>
          <a:p>
            <a:r>
              <a:rPr lang="en-IN" sz="1500" b="1" u="sng" dirty="0">
                <a:solidFill>
                  <a:schemeClr val="tx1"/>
                </a:solidFill>
                <a:latin typeface="Times New Roman" panose="02020603050405020304" pitchFamily="18" charset="0"/>
                <a:cs typeface="Times New Roman" panose="02020603050405020304" pitchFamily="18" charset="0"/>
              </a:rPr>
              <a:t>Libraries &amp; Tools</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Pandas </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NumPy </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Matplotlib </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Seaborn </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Scikit-learn </a:t>
            </a:r>
          </a:p>
          <a:p>
            <a:pPr marL="285750" indent="-285750">
              <a:buFont typeface="Arial" panose="020B0604020202020204" pitchFamily="34" charset="0"/>
              <a:buChar char="•"/>
            </a:pPr>
            <a:r>
              <a:rPr lang="en-IN" sz="1500" dirty="0">
                <a:solidFill>
                  <a:schemeClr val="tx1"/>
                </a:solidFill>
                <a:latin typeface="Times New Roman" panose="02020603050405020304" pitchFamily="18" charset="0"/>
                <a:cs typeface="Times New Roman" panose="02020603050405020304" pitchFamily="18" charset="0"/>
              </a:rPr>
              <a:t>Joblib </a:t>
            </a:r>
          </a:p>
          <a:p>
            <a:pPr marL="285750" indent="-285750">
              <a:buFont typeface="Arial" panose="020B0604020202020204" pitchFamily="34" charset="0"/>
              <a:buChar char="•"/>
            </a:pPr>
            <a:endParaRPr lang="en-IN" sz="1500"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endParaRPr lang="en-IN" sz="1500" b="1" u="sng" dirty="0">
              <a:solidFill>
                <a:schemeClr val="tx1"/>
              </a:solidFill>
              <a:latin typeface="Times New Roman" panose="02020603050405020304" pitchFamily="18" charset="0"/>
              <a:cs typeface="Times New Roman" panose="02020603050405020304" pitchFamily="18" charset="0"/>
            </a:endParaRPr>
          </a:p>
          <a:p>
            <a:r>
              <a:rPr lang="en-IN" sz="1500" b="1" u="sng" dirty="0">
                <a:solidFill>
                  <a:schemeClr val="tx1"/>
                </a:solidFill>
                <a:latin typeface="Times New Roman" panose="02020603050405020304" pitchFamily="18" charset="0"/>
                <a:cs typeface="Times New Roman" panose="02020603050405020304" pitchFamily="18" charset="0"/>
              </a:rPr>
              <a:t>ML Techniques Used</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Data Preprocessing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Missing Value Handling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Feature Engineering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Feature Scaling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One-Hot Encoding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Model Training &amp; Evaluation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Hyperparameter Tuning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Threshold Optimization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Model Comparison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Feature Importance Analysis </a:t>
            </a:r>
          </a:p>
          <a:p>
            <a:pPr marL="285750" lvl="0" indent="-285750"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Churn Probability Prediction </a:t>
            </a:r>
          </a:p>
          <a:p>
            <a:pPr lvl="0" eaLnBrk="0" fontAlgn="base" hangingPunct="0">
              <a:spcBef>
                <a:spcPct val="0"/>
              </a:spcBef>
              <a:spcAft>
                <a:spcPct val="0"/>
              </a:spcAft>
              <a:buClrTx/>
            </a:pPr>
            <a:endParaRPr lang="en-US" altLang="en-US" sz="15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11" name="Picture 10">
            <a:extLst>
              <a:ext uri="{FF2B5EF4-FFF2-40B4-BE49-F238E27FC236}">
                <a16:creationId xmlns:a16="http://schemas.microsoft.com/office/drawing/2014/main" id="{260A48C4-B980-D3AB-DAC8-FF07B21D1735}"/>
              </a:ext>
            </a:extLst>
          </p:cNvPr>
          <p:cNvPicPr>
            <a:picLocks noChangeAspect="1"/>
          </p:cNvPicPr>
          <p:nvPr/>
        </p:nvPicPr>
        <p:blipFill>
          <a:blip r:embed="rId3"/>
          <a:stretch>
            <a:fillRect/>
          </a:stretch>
        </p:blipFill>
        <p:spPr>
          <a:xfrm>
            <a:off x="15397" y="0"/>
            <a:ext cx="9113206" cy="5151664"/>
          </a:xfrm>
          <a:prstGeom prst="rect">
            <a:avLst/>
          </a:prstGeom>
        </p:spPr>
      </p:pic>
      <p:pic>
        <p:nvPicPr>
          <p:cNvPr id="3" name="Picture 2">
            <a:extLst>
              <a:ext uri="{FF2B5EF4-FFF2-40B4-BE49-F238E27FC236}">
                <a16:creationId xmlns:a16="http://schemas.microsoft.com/office/drawing/2014/main" id="{E95D02E9-39FA-7928-D0DF-34031990F833}"/>
              </a:ext>
            </a:extLst>
          </p:cNvPr>
          <p:cNvPicPr>
            <a:picLocks noChangeAspect="1"/>
          </p:cNvPicPr>
          <p:nvPr/>
        </p:nvPicPr>
        <p:blipFill>
          <a:blip r:embed="rId4"/>
          <a:stretch>
            <a:fillRect/>
          </a:stretch>
        </p:blipFill>
        <p:spPr>
          <a:xfrm>
            <a:off x="765037" y="860975"/>
            <a:ext cx="7613925" cy="4156430"/>
          </a:xfrm>
          <a:prstGeom prst="rect">
            <a:avLst/>
          </a:prstGeom>
          <a:ln>
            <a:solidFill>
              <a:schemeClr val="accent5">
                <a:lumMod val="75000"/>
              </a:schemeClr>
            </a:solidFill>
          </a:ln>
        </p:spPr>
      </p:pic>
      <p:sp>
        <p:nvSpPr>
          <p:cNvPr id="7" name="Google Shape;75;p3">
            <a:extLst>
              <a:ext uri="{FF2B5EF4-FFF2-40B4-BE49-F238E27FC236}">
                <a16:creationId xmlns:a16="http://schemas.microsoft.com/office/drawing/2014/main" id="{9FD1E669-A1FE-63E8-4A52-F4AEAAEEC8D3}"/>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Project Workflow</a:t>
            </a:r>
            <a:endParaRPr lang="en-IN" sz="3000" dirty="0">
              <a:latin typeface="Times New Roman" panose="02020603050405020304" pitchFamily="18" charset="0"/>
              <a:ea typeface="Fira Sans"/>
              <a:cs typeface="Times New Roman" panose="02020603050405020304" pitchFamily="18" charset="0"/>
              <a:sym typeface="Fir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a:extLst>
            <a:ext uri="{FF2B5EF4-FFF2-40B4-BE49-F238E27FC236}">
              <a16:creationId xmlns:a16="http://schemas.microsoft.com/office/drawing/2014/main" id="{A556D2D7-E57B-1B0D-37A1-F2AB3C27542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167C7734-19F9-D244-9058-478D84E69E57}"/>
              </a:ext>
            </a:extLst>
          </p:cNvPr>
          <p:cNvPicPr>
            <a:picLocks noChangeAspect="1"/>
          </p:cNvPicPr>
          <p:nvPr/>
        </p:nvPicPr>
        <p:blipFill>
          <a:blip r:embed="rId3"/>
          <a:stretch>
            <a:fillRect/>
          </a:stretch>
        </p:blipFill>
        <p:spPr>
          <a:xfrm>
            <a:off x="15397" y="0"/>
            <a:ext cx="9113206" cy="5151664"/>
          </a:xfrm>
          <a:prstGeom prst="rect">
            <a:avLst/>
          </a:prstGeom>
        </p:spPr>
      </p:pic>
      <p:sp>
        <p:nvSpPr>
          <p:cNvPr id="7" name="Google Shape;75;p3">
            <a:extLst>
              <a:ext uri="{FF2B5EF4-FFF2-40B4-BE49-F238E27FC236}">
                <a16:creationId xmlns:a16="http://schemas.microsoft.com/office/drawing/2014/main" id="{7C4C5A2D-DF48-4FB2-6263-5DD58F13D1E6}"/>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Data Cleaning and Preprocessing</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4" name="TextBox 3">
            <a:extLst>
              <a:ext uri="{FF2B5EF4-FFF2-40B4-BE49-F238E27FC236}">
                <a16:creationId xmlns:a16="http://schemas.microsoft.com/office/drawing/2014/main" id="{8F90DCCB-8ACC-5D9D-0577-43D867083588}"/>
              </a:ext>
            </a:extLst>
          </p:cNvPr>
          <p:cNvSpPr txBox="1"/>
          <p:nvPr/>
        </p:nvSpPr>
        <p:spPr>
          <a:xfrm>
            <a:off x="347710" y="985970"/>
            <a:ext cx="8448579" cy="4016484"/>
          </a:xfrm>
          <a:prstGeom prst="rect">
            <a:avLst/>
          </a:prstGeom>
          <a:noFill/>
        </p:spPr>
        <p:txBody>
          <a:bodyPr wrap="square" rtlCol="0">
            <a:spAutoFit/>
          </a:bodyPr>
          <a:lstStyle/>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Data Cleaning:</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Missing values in numerical features were handled using median imputation to preserve data distribution.</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Duplicate records and irrelevant identifiers like </a:t>
            </a:r>
            <a:r>
              <a:rPr lang="en-US" altLang="en-US" sz="1500" dirty="0" err="1">
                <a:solidFill>
                  <a:schemeClr val="tx1"/>
                </a:solidFill>
                <a:latin typeface="Times New Roman" panose="02020603050405020304" pitchFamily="18" charset="0"/>
                <a:cs typeface="Times New Roman" panose="02020603050405020304" pitchFamily="18" charset="0"/>
              </a:rPr>
              <a:t>customer_id</a:t>
            </a:r>
            <a:r>
              <a:rPr lang="en-US" altLang="en-US" sz="1500" dirty="0">
                <a:solidFill>
                  <a:schemeClr val="tx1"/>
                </a:solidFill>
                <a:latin typeface="Times New Roman" panose="02020603050405020304" pitchFamily="18" charset="0"/>
                <a:cs typeface="Times New Roman" panose="02020603050405020304" pitchFamily="18" charset="0"/>
              </a:rPr>
              <a:t> were removed to avoid bias in modeling.</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Data was reviewed for consistency to ensure reliable input for analysis.</a:t>
            </a:r>
          </a:p>
          <a:p>
            <a:pPr lvl="0" algn="just" eaLnBrk="0" fontAlgn="base" hangingPunct="0">
              <a:spcBef>
                <a:spcPct val="0"/>
              </a:spcBef>
              <a:spcAft>
                <a:spcPct val="0"/>
              </a:spcAft>
              <a:buClrTx/>
            </a:pPr>
            <a:endParaRPr lang="en-US" altLang="en-US" sz="1500" b="1"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Preprocessing:</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Categorical variables were transformed using one-hot encoding to convert them into machine-readable format.</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Binary encoding was applied to features like gender for simplicity.</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Numerical features were standardized using </a:t>
            </a:r>
            <a:r>
              <a:rPr lang="en-US" altLang="en-US" sz="1500" dirty="0" err="1">
                <a:solidFill>
                  <a:schemeClr val="tx1"/>
                </a:solidFill>
                <a:latin typeface="Times New Roman" panose="02020603050405020304" pitchFamily="18" charset="0"/>
                <a:cs typeface="Times New Roman" panose="02020603050405020304" pitchFamily="18" charset="0"/>
              </a:rPr>
              <a:t>StandardScaler</a:t>
            </a:r>
            <a:r>
              <a:rPr lang="en-US" altLang="en-US" sz="1500" dirty="0">
                <a:solidFill>
                  <a:schemeClr val="tx1"/>
                </a:solidFill>
                <a:latin typeface="Times New Roman" panose="02020603050405020304" pitchFamily="18" charset="0"/>
                <a:cs typeface="Times New Roman" panose="02020603050405020304" pitchFamily="18" charset="0"/>
              </a:rPr>
              <a:t> to ensure uniform scaling across variables.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Dataset was split into training and testing sets using stratification to maintain class balance.</a:t>
            </a:r>
          </a:p>
          <a:p>
            <a:pPr marL="285750" lvl="0" indent="-285750" algn="just" eaLnBrk="0" fontAlgn="base" hangingPunct="0">
              <a:spcBef>
                <a:spcPct val="0"/>
              </a:spcBef>
              <a:spcAft>
                <a:spcPct val="0"/>
              </a:spcAft>
              <a:buClrTx/>
              <a:buFont typeface="Arial" panose="020B0604020202020204" pitchFamily="34" charset="0"/>
              <a:buChar char="•"/>
            </a:pPr>
            <a:endParaRPr lang="en-US" altLang="en-US" sz="1500" b="1"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Outcome:</a:t>
            </a:r>
          </a:p>
          <a:p>
            <a:pPr lvl="0" algn="just" eaLnBrk="0" fontAlgn="base" hangingPunct="0">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The dataset was cleaned, encoded, and scaled into a structured format, making it suitable for training machine learning models with improved stability and performance.</a:t>
            </a:r>
          </a:p>
          <a:p>
            <a:pPr algn="just"/>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37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A2DAEF-4E69-2A98-F534-B993F4BD6008}"/>
              </a:ext>
            </a:extLst>
          </p:cNvPr>
          <p:cNvPicPr>
            <a:picLocks noChangeAspect="1"/>
          </p:cNvPicPr>
          <p:nvPr/>
        </p:nvPicPr>
        <p:blipFill>
          <a:blip r:embed="rId2"/>
          <a:stretch>
            <a:fillRect/>
          </a:stretch>
        </p:blipFill>
        <p:spPr>
          <a:xfrm>
            <a:off x="23561" y="0"/>
            <a:ext cx="9113206" cy="5143500"/>
          </a:xfrm>
          <a:prstGeom prst="rect">
            <a:avLst/>
          </a:prstGeom>
        </p:spPr>
      </p:pic>
      <p:sp>
        <p:nvSpPr>
          <p:cNvPr id="3" name="TextBox 2">
            <a:extLst>
              <a:ext uri="{FF2B5EF4-FFF2-40B4-BE49-F238E27FC236}">
                <a16:creationId xmlns:a16="http://schemas.microsoft.com/office/drawing/2014/main" id="{BB3585D6-E53C-98C3-6BDF-2E756E7921D5}"/>
              </a:ext>
            </a:extLst>
          </p:cNvPr>
          <p:cNvSpPr txBox="1"/>
          <p:nvPr/>
        </p:nvSpPr>
        <p:spPr>
          <a:xfrm>
            <a:off x="3333917" y="1068591"/>
            <a:ext cx="5573319" cy="3785652"/>
          </a:xfrm>
          <a:prstGeom prst="rect">
            <a:avLst/>
          </a:prstGeom>
          <a:noFill/>
        </p:spPr>
        <p:txBody>
          <a:bodyPr wrap="square">
            <a:spAutoFit/>
          </a:bodyPr>
          <a:lstStyle/>
          <a:p>
            <a:pPr algn="just">
              <a:buNone/>
            </a:pPr>
            <a:r>
              <a:rPr lang="en-US" sz="1500" b="1" dirty="0">
                <a:latin typeface="Times New Roman" panose="02020603050405020304" pitchFamily="18" charset="0"/>
                <a:cs typeface="Times New Roman" panose="02020603050405020304" pitchFamily="18" charset="0"/>
              </a:rPr>
              <a:t>Insights: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Customers with frequent complaints show a significantly higher tendency to churn compared to satisfied customers.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Longer inactivity periods are strongly associated with increased churn risk.</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Churned users generally display lower engagement and reduced interaction with banking services.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Increasing dissatisfaction and inactivity indicate a gradual decline in customer loyalty over time.</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Complaint history and inactivity act as strong early warning indicators of churn behavior.</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These behavioral features are highly valuable for identifying at-risk customers early.</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Monitoring such patterns helps banks implement proactive retention and customer engagement strategies.</a:t>
            </a:r>
          </a:p>
          <a:p>
            <a:pPr lvl="0" algn="just" eaLnBrk="0" fontAlgn="base" hangingPunct="0">
              <a:spcBef>
                <a:spcPct val="0"/>
              </a:spcBef>
              <a:spcAft>
                <a:spcPct val="0"/>
              </a:spcAft>
              <a:buClrTx/>
            </a:pPr>
            <a:endParaRPr lang="en-US" altLang="en-US" sz="1500" dirty="0">
              <a:solidFill>
                <a:schemeClr val="tx1"/>
              </a:solidFill>
              <a:latin typeface="Arial" panose="020B0604020202020204" pitchFamily="34" charset="0"/>
            </a:endParaRPr>
          </a:p>
        </p:txBody>
      </p:sp>
      <p:sp>
        <p:nvSpPr>
          <p:cNvPr id="5" name="Google Shape;75;p3">
            <a:extLst>
              <a:ext uri="{FF2B5EF4-FFF2-40B4-BE49-F238E27FC236}">
                <a16:creationId xmlns:a16="http://schemas.microsoft.com/office/drawing/2014/main" id="{D9366029-B45E-3C98-0B3F-DF08A7AB6DDF}"/>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Customer Behaviour (EDA) Insights</a:t>
            </a:r>
            <a:endParaRPr lang="en-IN" sz="3000" dirty="0">
              <a:latin typeface="Times New Roman" panose="02020603050405020304" pitchFamily="18" charset="0"/>
              <a:ea typeface="Fira Sans"/>
              <a:cs typeface="Times New Roman" panose="02020603050405020304" pitchFamily="18" charset="0"/>
              <a:sym typeface="Fira Sans"/>
            </a:endParaRPr>
          </a:p>
        </p:txBody>
      </p:sp>
      <p:pic>
        <p:nvPicPr>
          <p:cNvPr id="6" name="Picture 5">
            <a:extLst>
              <a:ext uri="{FF2B5EF4-FFF2-40B4-BE49-F238E27FC236}">
                <a16:creationId xmlns:a16="http://schemas.microsoft.com/office/drawing/2014/main" id="{96ECED32-36CA-B811-3BB5-53590FA59C7E}"/>
              </a:ext>
            </a:extLst>
          </p:cNvPr>
          <p:cNvPicPr>
            <a:picLocks noChangeAspect="1"/>
          </p:cNvPicPr>
          <p:nvPr/>
        </p:nvPicPr>
        <p:blipFill>
          <a:blip r:embed="rId3"/>
          <a:stretch>
            <a:fillRect/>
          </a:stretch>
        </p:blipFill>
        <p:spPr>
          <a:xfrm>
            <a:off x="306424" y="711976"/>
            <a:ext cx="3027493" cy="2162495"/>
          </a:xfrm>
          <a:prstGeom prst="rect">
            <a:avLst/>
          </a:prstGeom>
        </p:spPr>
      </p:pic>
      <p:pic>
        <p:nvPicPr>
          <p:cNvPr id="9" name="Picture 8">
            <a:extLst>
              <a:ext uri="{FF2B5EF4-FFF2-40B4-BE49-F238E27FC236}">
                <a16:creationId xmlns:a16="http://schemas.microsoft.com/office/drawing/2014/main" id="{BA7A9A67-7C2A-8F52-7767-D924880352B1}"/>
              </a:ext>
            </a:extLst>
          </p:cNvPr>
          <p:cNvPicPr>
            <a:picLocks noChangeAspect="1"/>
          </p:cNvPicPr>
          <p:nvPr/>
        </p:nvPicPr>
        <p:blipFill>
          <a:blip r:embed="rId4"/>
          <a:stretch>
            <a:fillRect/>
          </a:stretch>
        </p:blipFill>
        <p:spPr>
          <a:xfrm>
            <a:off x="306424" y="2874471"/>
            <a:ext cx="3027493" cy="2162494"/>
          </a:xfrm>
          <a:prstGeom prst="rect">
            <a:avLst/>
          </a:prstGeom>
        </p:spPr>
      </p:pic>
    </p:spTree>
    <p:extLst>
      <p:ext uri="{BB962C8B-B14F-4D97-AF65-F5344CB8AC3E}">
        <p14:creationId xmlns:p14="http://schemas.microsoft.com/office/powerpoint/2010/main" val="2817800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276E5-36EA-55F8-F14A-0DC4711011B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A1C214-C225-268C-A9EE-A074E5DA60DF}"/>
              </a:ext>
            </a:extLst>
          </p:cNvPr>
          <p:cNvPicPr>
            <a:picLocks noChangeAspect="1"/>
          </p:cNvPicPr>
          <p:nvPr/>
        </p:nvPicPr>
        <p:blipFill>
          <a:blip r:embed="rId2"/>
          <a:stretch>
            <a:fillRect/>
          </a:stretch>
        </p:blipFill>
        <p:spPr>
          <a:xfrm>
            <a:off x="15397" y="0"/>
            <a:ext cx="9113206" cy="5143500"/>
          </a:xfrm>
          <a:prstGeom prst="rect">
            <a:avLst/>
          </a:prstGeom>
        </p:spPr>
      </p:pic>
      <p:sp>
        <p:nvSpPr>
          <p:cNvPr id="5" name="Google Shape;75;p3">
            <a:extLst>
              <a:ext uri="{FF2B5EF4-FFF2-40B4-BE49-F238E27FC236}">
                <a16:creationId xmlns:a16="http://schemas.microsoft.com/office/drawing/2014/main" id="{65DEA46E-6A43-1717-636A-33E0F5423FA7}"/>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Digital Engagement Analysis</a:t>
            </a:r>
            <a:endParaRPr lang="en-IN" sz="3000" dirty="0">
              <a:latin typeface="Times New Roman" panose="02020603050405020304" pitchFamily="18" charset="0"/>
              <a:ea typeface="Fira Sans"/>
              <a:cs typeface="Times New Roman" panose="02020603050405020304" pitchFamily="18" charset="0"/>
              <a:sym typeface="Fira Sans"/>
            </a:endParaRPr>
          </a:p>
        </p:txBody>
      </p:sp>
      <p:pic>
        <p:nvPicPr>
          <p:cNvPr id="2" name="Picture 1">
            <a:extLst>
              <a:ext uri="{FF2B5EF4-FFF2-40B4-BE49-F238E27FC236}">
                <a16:creationId xmlns:a16="http://schemas.microsoft.com/office/drawing/2014/main" id="{1EC956C1-7A30-1837-2942-9C3657366D76}"/>
              </a:ext>
            </a:extLst>
          </p:cNvPr>
          <p:cNvPicPr>
            <a:picLocks noChangeAspect="1"/>
          </p:cNvPicPr>
          <p:nvPr/>
        </p:nvPicPr>
        <p:blipFill>
          <a:blip r:embed="rId3"/>
          <a:stretch>
            <a:fillRect/>
          </a:stretch>
        </p:blipFill>
        <p:spPr>
          <a:xfrm>
            <a:off x="156577" y="1575707"/>
            <a:ext cx="3839460" cy="2742470"/>
          </a:xfrm>
          <a:prstGeom prst="rect">
            <a:avLst/>
          </a:prstGeom>
        </p:spPr>
      </p:pic>
      <p:sp>
        <p:nvSpPr>
          <p:cNvPr id="3" name="TextBox 2">
            <a:extLst>
              <a:ext uri="{FF2B5EF4-FFF2-40B4-BE49-F238E27FC236}">
                <a16:creationId xmlns:a16="http://schemas.microsoft.com/office/drawing/2014/main" id="{788CE70D-FEEC-991F-333A-499790BBB970}"/>
              </a:ext>
            </a:extLst>
          </p:cNvPr>
          <p:cNvSpPr txBox="1"/>
          <p:nvPr/>
        </p:nvSpPr>
        <p:spPr>
          <a:xfrm>
            <a:off x="3876577" y="1068591"/>
            <a:ext cx="4955723" cy="3785652"/>
          </a:xfrm>
          <a:prstGeom prst="rect">
            <a:avLst/>
          </a:prstGeom>
          <a:noFill/>
        </p:spPr>
        <p:txBody>
          <a:bodyPr wrap="square">
            <a:spAutoFit/>
          </a:bodyPr>
          <a:lstStyle/>
          <a:p>
            <a:pPr algn="just"/>
            <a:r>
              <a:rPr lang="en-US" sz="1500" b="1" dirty="0">
                <a:latin typeface="Times New Roman" panose="02020603050405020304" pitchFamily="18" charset="0"/>
                <a:cs typeface="Times New Roman" panose="02020603050405020304" pitchFamily="18" charset="0"/>
              </a:rPr>
              <a:t>Insights:</a:t>
            </a:r>
            <a:endParaRPr lang="en-US" altLang="en-US" sz="1500" dirty="0">
              <a:solidFill>
                <a:schemeClr val="tx1"/>
              </a:solidFill>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Churned customers consistently show lower digital engagement compared to retained customers.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 median digital engagement score of churned users is significantly lower, indicating reduced interaction with banking services.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Retained customers exhibit higher app usage, stronger email engagement, and more frequent login activity.</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Their engagement patterns are also more stable compared to churned users.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Lower digital engagement is strongly correlated with higher churn risk.</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Inactive or less digitally connected customers are more likely to leave the bank.</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Digital inactivity serves as an early warning signal for customer attrition.</a:t>
            </a:r>
          </a:p>
        </p:txBody>
      </p:sp>
    </p:spTree>
    <p:extLst>
      <p:ext uri="{BB962C8B-B14F-4D97-AF65-F5344CB8AC3E}">
        <p14:creationId xmlns:p14="http://schemas.microsoft.com/office/powerpoint/2010/main" val="1228828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1683E-1FBA-D9F0-A382-4BC5609A68A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8A4B645-C0DE-ABDD-A06D-8F1BF2A8F7F1}"/>
              </a:ext>
            </a:extLst>
          </p:cNvPr>
          <p:cNvPicPr>
            <a:picLocks noChangeAspect="1"/>
          </p:cNvPicPr>
          <p:nvPr/>
        </p:nvPicPr>
        <p:blipFill>
          <a:blip r:embed="rId2"/>
          <a:stretch>
            <a:fillRect/>
          </a:stretch>
        </p:blipFill>
        <p:spPr>
          <a:xfrm>
            <a:off x="15397" y="0"/>
            <a:ext cx="9113206" cy="5143500"/>
          </a:xfrm>
          <a:prstGeom prst="rect">
            <a:avLst/>
          </a:prstGeom>
        </p:spPr>
      </p:pic>
      <p:sp>
        <p:nvSpPr>
          <p:cNvPr id="5" name="Google Shape;75;p3">
            <a:extLst>
              <a:ext uri="{FF2B5EF4-FFF2-40B4-BE49-F238E27FC236}">
                <a16:creationId xmlns:a16="http://schemas.microsoft.com/office/drawing/2014/main" id="{320A3FCD-16B1-5BF1-3B79-70DC19BE08FD}"/>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Financial Behaviour Insights</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DFA8DEA1-359D-0DD0-B91C-E0F65174464C}"/>
              </a:ext>
            </a:extLst>
          </p:cNvPr>
          <p:cNvSpPr txBox="1"/>
          <p:nvPr/>
        </p:nvSpPr>
        <p:spPr>
          <a:xfrm>
            <a:off x="3571877" y="849858"/>
            <a:ext cx="5219601" cy="4016484"/>
          </a:xfrm>
          <a:prstGeom prst="rect">
            <a:avLst/>
          </a:prstGeom>
          <a:noFill/>
        </p:spPr>
        <p:txBody>
          <a:bodyPr wrap="square">
            <a:spAutoFit/>
          </a:bodyPr>
          <a:lstStyle/>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Insights: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Financial behavior patterns show a strong relationship between account activity and customer churn.</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Churned customers generally maintain lower monthly balances compared to retained customers.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They also show reduced transaction activity and lower credit utilization levels.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Retained customers demonstrate healthier financial engagement with higher balances.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They actively use banking products and credit services more frequently.</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Declining balances and reduced transactions indicate disengagement from banking services.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Low financial activity significantly increases the likelihood of churn.</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Overall, declining account value and inactivity are major predictors of customer attrition.</a:t>
            </a:r>
          </a:p>
        </p:txBody>
      </p:sp>
      <p:pic>
        <p:nvPicPr>
          <p:cNvPr id="2" name="Picture 1">
            <a:extLst>
              <a:ext uri="{FF2B5EF4-FFF2-40B4-BE49-F238E27FC236}">
                <a16:creationId xmlns:a16="http://schemas.microsoft.com/office/drawing/2014/main" id="{6636152D-CDD0-9DE9-4575-CB2C5F664D7D}"/>
              </a:ext>
            </a:extLst>
          </p:cNvPr>
          <p:cNvPicPr>
            <a:picLocks noChangeAspect="1"/>
          </p:cNvPicPr>
          <p:nvPr/>
        </p:nvPicPr>
        <p:blipFill>
          <a:blip r:embed="rId3"/>
          <a:stretch>
            <a:fillRect/>
          </a:stretch>
        </p:blipFill>
        <p:spPr>
          <a:xfrm>
            <a:off x="460349" y="711392"/>
            <a:ext cx="3005390" cy="2146708"/>
          </a:xfrm>
          <a:prstGeom prst="rect">
            <a:avLst/>
          </a:prstGeom>
        </p:spPr>
      </p:pic>
      <p:pic>
        <p:nvPicPr>
          <p:cNvPr id="6" name="Picture 5">
            <a:extLst>
              <a:ext uri="{FF2B5EF4-FFF2-40B4-BE49-F238E27FC236}">
                <a16:creationId xmlns:a16="http://schemas.microsoft.com/office/drawing/2014/main" id="{283A2E95-EB22-E330-E42D-16E7629F0EB1}"/>
              </a:ext>
            </a:extLst>
          </p:cNvPr>
          <p:cNvPicPr>
            <a:picLocks noChangeAspect="1"/>
          </p:cNvPicPr>
          <p:nvPr/>
        </p:nvPicPr>
        <p:blipFill>
          <a:blip r:embed="rId4"/>
          <a:stretch>
            <a:fillRect/>
          </a:stretch>
        </p:blipFill>
        <p:spPr>
          <a:xfrm>
            <a:off x="460349" y="2858100"/>
            <a:ext cx="3005392" cy="2146708"/>
          </a:xfrm>
          <a:prstGeom prst="rect">
            <a:avLst/>
          </a:prstGeom>
        </p:spPr>
      </p:pic>
    </p:spTree>
    <p:extLst>
      <p:ext uri="{BB962C8B-B14F-4D97-AF65-F5344CB8AC3E}">
        <p14:creationId xmlns:p14="http://schemas.microsoft.com/office/powerpoint/2010/main" val="2312456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7A41132-441F-426F-3292-8DAA91A9B978}"/>
              </a:ext>
            </a:extLst>
          </p:cNvPr>
          <p:cNvPicPr>
            <a:picLocks noChangeAspect="1"/>
          </p:cNvPicPr>
          <p:nvPr/>
        </p:nvPicPr>
        <p:blipFill>
          <a:blip r:embed="rId2"/>
          <a:stretch>
            <a:fillRect/>
          </a:stretch>
        </p:blipFill>
        <p:spPr>
          <a:xfrm>
            <a:off x="15397" y="0"/>
            <a:ext cx="9113206" cy="5143500"/>
          </a:xfrm>
          <a:prstGeom prst="rect">
            <a:avLst/>
          </a:prstGeom>
        </p:spPr>
      </p:pic>
      <p:pic>
        <p:nvPicPr>
          <p:cNvPr id="3" name="Picture 2">
            <a:extLst>
              <a:ext uri="{FF2B5EF4-FFF2-40B4-BE49-F238E27FC236}">
                <a16:creationId xmlns:a16="http://schemas.microsoft.com/office/drawing/2014/main" id="{FC9FCAFE-CBBB-0F1B-8889-DC6FF6CD8BD2}"/>
              </a:ext>
            </a:extLst>
          </p:cNvPr>
          <p:cNvPicPr>
            <a:picLocks noChangeAspect="1"/>
          </p:cNvPicPr>
          <p:nvPr/>
        </p:nvPicPr>
        <p:blipFill>
          <a:blip r:embed="rId3"/>
          <a:stretch>
            <a:fillRect/>
          </a:stretch>
        </p:blipFill>
        <p:spPr>
          <a:xfrm>
            <a:off x="710286" y="702129"/>
            <a:ext cx="3394716" cy="2424797"/>
          </a:xfrm>
          <a:prstGeom prst="rect">
            <a:avLst/>
          </a:prstGeom>
        </p:spPr>
      </p:pic>
      <p:pic>
        <p:nvPicPr>
          <p:cNvPr id="5" name="Picture 4">
            <a:extLst>
              <a:ext uri="{FF2B5EF4-FFF2-40B4-BE49-F238E27FC236}">
                <a16:creationId xmlns:a16="http://schemas.microsoft.com/office/drawing/2014/main" id="{85BF604C-D0EF-FAD6-520E-F471C8F47466}"/>
              </a:ext>
            </a:extLst>
          </p:cNvPr>
          <p:cNvPicPr>
            <a:picLocks noChangeAspect="1"/>
          </p:cNvPicPr>
          <p:nvPr/>
        </p:nvPicPr>
        <p:blipFill>
          <a:blip r:embed="rId4"/>
          <a:stretch>
            <a:fillRect/>
          </a:stretch>
        </p:blipFill>
        <p:spPr>
          <a:xfrm>
            <a:off x="5038998" y="702129"/>
            <a:ext cx="3394716" cy="2424797"/>
          </a:xfrm>
          <a:prstGeom prst="rect">
            <a:avLst/>
          </a:prstGeom>
        </p:spPr>
      </p:pic>
      <p:sp>
        <p:nvSpPr>
          <p:cNvPr id="6" name="Google Shape;75;p3">
            <a:extLst>
              <a:ext uri="{FF2B5EF4-FFF2-40B4-BE49-F238E27FC236}">
                <a16:creationId xmlns:a16="http://schemas.microsoft.com/office/drawing/2014/main" id="{F65DB866-388E-E2BA-868A-BCE3935DA6CE}"/>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Age &amp; Average Monthly Balance Distribution</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F57917DC-D2E1-2EBA-BAF6-7D8C339E4EB4}"/>
              </a:ext>
            </a:extLst>
          </p:cNvPr>
          <p:cNvSpPr txBox="1"/>
          <p:nvPr/>
        </p:nvSpPr>
        <p:spPr>
          <a:xfrm>
            <a:off x="506186" y="3265714"/>
            <a:ext cx="3902528" cy="1477328"/>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Age Distribution:</a:t>
            </a:r>
            <a:r>
              <a:rPr lang="en-US" sz="1500" dirty="0">
                <a:latin typeface="Times New Roman" panose="02020603050405020304" pitchFamily="18" charset="0"/>
                <a:cs typeface="Times New Roman" panose="02020603050405020304" pitchFamily="18" charset="0"/>
              </a:rPr>
              <a:t> Customer ages are normally distributed, centered around 45–50, with most between 35–55 and very few at the extremes. The bank mainly serves middle-aged customers, so strategies should focus on this group.</a:t>
            </a:r>
          </a:p>
          <a:p>
            <a:pPr algn="just"/>
            <a:endParaRPr lang="en-IN" sz="15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3176110-3A03-C239-9505-F5AAFAE6EFFD}"/>
              </a:ext>
            </a:extLst>
          </p:cNvPr>
          <p:cNvSpPr txBox="1"/>
          <p:nvPr/>
        </p:nvSpPr>
        <p:spPr>
          <a:xfrm>
            <a:off x="4735288" y="3265714"/>
            <a:ext cx="3902528" cy="1477328"/>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Balance Distribution:</a:t>
            </a:r>
            <a:r>
              <a:rPr lang="en-US" sz="1500" dirty="0">
                <a:latin typeface="Times New Roman" panose="02020603050405020304" pitchFamily="18" charset="0"/>
                <a:cs typeface="Times New Roman" panose="02020603050405020304" pitchFamily="18" charset="0"/>
              </a:rPr>
              <a:t> Account balances are highly right-skewed, with most customers holding low balances (5k–15k) and a small group holding very high values up to 160k. A small high-value segment drives major value, making their retention very important.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9162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7EBD3690-968F-B786-E9C0-4A0B739D86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1B00A64-7AEB-CB90-2DC8-895FFD5A9600}"/>
              </a:ext>
            </a:extLst>
          </p:cNvPr>
          <p:cNvPicPr>
            <a:picLocks noChangeAspect="1"/>
          </p:cNvPicPr>
          <p:nvPr/>
        </p:nvPicPr>
        <p:blipFill>
          <a:blip r:embed="rId3"/>
          <a:stretch>
            <a:fillRect/>
          </a:stretch>
        </p:blipFill>
        <p:spPr>
          <a:xfrm>
            <a:off x="15397" y="0"/>
            <a:ext cx="9113206" cy="5143500"/>
          </a:xfrm>
          <a:prstGeom prst="rect">
            <a:avLst/>
          </a:prstGeom>
        </p:spPr>
      </p:pic>
      <p:sp>
        <p:nvSpPr>
          <p:cNvPr id="12" name="Google Shape;75;p3">
            <a:extLst>
              <a:ext uri="{FF2B5EF4-FFF2-40B4-BE49-F238E27FC236}">
                <a16:creationId xmlns:a16="http://schemas.microsoft.com/office/drawing/2014/main" id="{25457E69-6B2B-6375-BAA0-79D726FD8B48}"/>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Correlation Heatmap</a:t>
            </a:r>
            <a:endParaRPr lang="en-IN" sz="3000" dirty="0">
              <a:latin typeface="Times New Roman" panose="02020603050405020304" pitchFamily="18" charset="0"/>
              <a:ea typeface="Fira Sans"/>
              <a:cs typeface="Times New Roman" panose="02020603050405020304" pitchFamily="18" charset="0"/>
              <a:sym typeface="Fira Sans"/>
            </a:endParaRPr>
          </a:p>
        </p:txBody>
      </p:sp>
      <p:pic>
        <p:nvPicPr>
          <p:cNvPr id="5" name="Picture 4">
            <a:extLst>
              <a:ext uri="{FF2B5EF4-FFF2-40B4-BE49-F238E27FC236}">
                <a16:creationId xmlns:a16="http://schemas.microsoft.com/office/drawing/2014/main" id="{6CFB2ABB-2FBE-8791-DC63-93BDCF13B41A}"/>
              </a:ext>
            </a:extLst>
          </p:cNvPr>
          <p:cNvPicPr>
            <a:picLocks noChangeAspect="1"/>
          </p:cNvPicPr>
          <p:nvPr/>
        </p:nvPicPr>
        <p:blipFill>
          <a:blip r:embed="rId4"/>
          <a:stretch>
            <a:fillRect/>
          </a:stretch>
        </p:blipFill>
        <p:spPr>
          <a:xfrm>
            <a:off x="212271" y="779335"/>
            <a:ext cx="4729842" cy="3869871"/>
          </a:xfrm>
          <a:prstGeom prst="rect">
            <a:avLst/>
          </a:prstGeom>
        </p:spPr>
      </p:pic>
      <p:sp>
        <p:nvSpPr>
          <p:cNvPr id="7" name="TextBox 6">
            <a:extLst>
              <a:ext uri="{FF2B5EF4-FFF2-40B4-BE49-F238E27FC236}">
                <a16:creationId xmlns:a16="http://schemas.microsoft.com/office/drawing/2014/main" id="{015DCAFE-D3E3-115C-7BD1-3CAFBD2B9652}"/>
              </a:ext>
            </a:extLst>
          </p:cNvPr>
          <p:cNvSpPr txBox="1"/>
          <p:nvPr/>
        </p:nvSpPr>
        <p:spPr>
          <a:xfrm>
            <a:off x="4465864" y="1184008"/>
            <a:ext cx="4366436" cy="3785652"/>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Correlation Insight:</a:t>
            </a:r>
            <a:r>
              <a:rPr lang="en-US" sz="1500" dirty="0">
                <a:latin typeface="Times New Roman" panose="02020603050405020304" pitchFamily="18" charset="0"/>
                <a:cs typeface="Times New Roman" panose="02020603050405020304" pitchFamily="18" charset="0"/>
              </a:rPr>
              <a:t> The heatmap shows mostly weak correlations between features, indicating that most variables are independent, with only a few strong positive clusters (such as balance/transaction metrics, credit/income variables) and some logical negative relationships (like cash withdrawals vs digital transactions). Importantly, churn has no strong direct correlation with any single feature, suggesting it is driven by a combination of subtle patterns rather than one dominant factor. </a:t>
            </a:r>
          </a:p>
          <a:p>
            <a:pPr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Conclusion:</a:t>
            </a:r>
            <a:r>
              <a:rPr lang="en-US" sz="1500" dirty="0">
                <a:latin typeface="Times New Roman" panose="02020603050405020304" pitchFamily="18" charset="0"/>
                <a:cs typeface="Times New Roman" panose="02020603050405020304" pitchFamily="18" charset="0"/>
              </a:rPr>
              <a:t> The dataset has low multicollinearity and churn is a non-linear problem, so tree-based models like Random Forest are more suitable than simple linear models.</a:t>
            </a:r>
          </a:p>
          <a:p>
            <a:pPr algn="just"/>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9676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763B959F-F320-3F3C-6AD0-93EFAF5F15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45D8AD8-3BB8-C691-419E-96B0AF094B5B}"/>
              </a:ext>
            </a:extLst>
          </p:cNvPr>
          <p:cNvPicPr>
            <a:picLocks noChangeAspect="1"/>
          </p:cNvPicPr>
          <p:nvPr/>
        </p:nvPicPr>
        <p:blipFill>
          <a:blip r:embed="rId3"/>
          <a:stretch>
            <a:fillRect/>
          </a:stretch>
        </p:blipFill>
        <p:spPr>
          <a:xfrm>
            <a:off x="15396" y="0"/>
            <a:ext cx="9128603" cy="5159828"/>
          </a:xfrm>
          <a:prstGeom prst="rect">
            <a:avLst/>
          </a:prstGeom>
        </p:spPr>
      </p:pic>
      <p:sp>
        <p:nvSpPr>
          <p:cNvPr id="12" name="Google Shape;75;p3">
            <a:extLst>
              <a:ext uri="{FF2B5EF4-FFF2-40B4-BE49-F238E27FC236}">
                <a16:creationId xmlns:a16="http://schemas.microsoft.com/office/drawing/2014/main" id="{C9ADE0A6-074A-EEB4-89F2-49E096038E23}"/>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Models Trained</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5" name="TextBox 4">
            <a:extLst>
              <a:ext uri="{FF2B5EF4-FFF2-40B4-BE49-F238E27FC236}">
                <a16:creationId xmlns:a16="http://schemas.microsoft.com/office/drawing/2014/main" id="{8A7EA70A-B716-E104-04DC-084B21490942}"/>
              </a:ext>
            </a:extLst>
          </p:cNvPr>
          <p:cNvSpPr txBox="1"/>
          <p:nvPr/>
        </p:nvSpPr>
        <p:spPr>
          <a:xfrm>
            <a:off x="713076" y="2687943"/>
            <a:ext cx="7717847" cy="1938992"/>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Hist Gradient Boosting </a:t>
            </a:r>
            <a:r>
              <a:rPr lang="en-US" sz="1500" dirty="0">
                <a:latin typeface="Times New Roman" panose="02020603050405020304" pitchFamily="18" charset="0"/>
                <a:cs typeface="Times New Roman" panose="02020603050405020304" pitchFamily="18" charset="0"/>
              </a:rPr>
              <a:t>performs best overall, achieving the </a:t>
            </a:r>
            <a:r>
              <a:rPr lang="en-US" sz="1500" b="1" dirty="0">
                <a:latin typeface="Times New Roman" panose="02020603050405020304" pitchFamily="18" charset="0"/>
                <a:cs typeface="Times New Roman" panose="02020603050405020304" pitchFamily="18" charset="0"/>
              </a:rPr>
              <a:t>highest Accuracy </a:t>
            </a:r>
            <a:r>
              <a:rPr lang="en-US" sz="1500" dirty="0">
                <a:latin typeface="Times New Roman" panose="02020603050405020304" pitchFamily="18" charset="0"/>
                <a:cs typeface="Times New Roman" panose="02020603050405020304" pitchFamily="18" charset="0"/>
              </a:rPr>
              <a:t>(99.75%) and </a:t>
            </a:r>
            <a:r>
              <a:rPr lang="en-US" sz="1500" b="1" dirty="0">
                <a:latin typeface="Times New Roman" panose="02020603050405020304" pitchFamily="18" charset="0"/>
                <a:cs typeface="Times New Roman" panose="02020603050405020304" pitchFamily="18" charset="0"/>
              </a:rPr>
              <a:t>F1-Score</a:t>
            </a:r>
            <a:r>
              <a:rPr lang="en-US" sz="1500" dirty="0">
                <a:latin typeface="Times New Roman" panose="02020603050405020304" pitchFamily="18" charset="0"/>
                <a:cs typeface="Times New Roman" panose="02020603050405020304" pitchFamily="18" charset="0"/>
              </a:rPr>
              <a:t> (99.23%). Logistic Regression and Random Forest also show strong results, both reaching perfect Precision (1.00), indicating </a:t>
            </a:r>
            <a:r>
              <a:rPr lang="en-US" sz="1500" b="1" dirty="0">
                <a:latin typeface="Times New Roman" panose="02020603050405020304" pitchFamily="18" charset="0"/>
                <a:cs typeface="Times New Roman" panose="02020603050405020304" pitchFamily="18" charset="0"/>
              </a:rPr>
              <a:t>no false positives</a:t>
            </a:r>
            <a:r>
              <a:rPr lang="en-US" sz="1500" dirty="0">
                <a:latin typeface="Times New Roman" panose="02020603050405020304" pitchFamily="18" charset="0"/>
                <a:cs typeface="Times New Roman" panose="02020603050405020304" pitchFamily="18" charset="0"/>
              </a:rPr>
              <a:t>. All top models demonstrate very high F2-Scores, showing strong capability in reducing false negatives, critical for churn prediction. ROC_AUC and PR_AUC values are nearly perfect (&gt;0.999), confirming excellent classification performance.</a:t>
            </a:r>
          </a:p>
          <a:p>
            <a:pPr algn="just"/>
            <a:r>
              <a:rPr lang="en-US" sz="1500" dirty="0">
                <a:latin typeface="Times New Roman" panose="02020603050405020304" pitchFamily="18" charset="0"/>
                <a:cs typeface="Times New Roman" panose="02020603050405020304" pitchFamily="18" charset="0"/>
              </a:rPr>
              <a:t>In contrast, the </a:t>
            </a:r>
            <a:r>
              <a:rPr lang="en-US" sz="1500" b="1" dirty="0">
                <a:latin typeface="Times New Roman" panose="02020603050405020304" pitchFamily="18" charset="0"/>
                <a:cs typeface="Times New Roman" panose="02020603050405020304" pitchFamily="18" charset="0"/>
              </a:rPr>
              <a:t>Decision Tree</a:t>
            </a:r>
            <a:r>
              <a:rPr lang="en-US" sz="1500" dirty="0">
                <a:latin typeface="Times New Roman" panose="02020603050405020304" pitchFamily="18" charset="0"/>
                <a:cs typeface="Times New Roman" panose="02020603050405020304" pitchFamily="18" charset="0"/>
              </a:rPr>
              <a:t> shows comparatively </a:t>
            </a:r>
            <a:r>
              <a:rPr lang="en-US" sz="1500" b="1" dirty="0">
                <a:latin typeface="Times New Roman" panose="02020603050405020304" pitchFamily="18" charset="0"/>
                <a:cs typeface="Times New Roman" panose="02020603050405020304" pitchFamily="18" charset="0"/>
              </a:rPr>
              <a:t>lower performance </a:t>
            </a:r>
            <a:r>
              <a:rPr lang="en-US" sz="1500" dirty="0">
                <a:latin typeface="Times New Roman" panose="02020603050405020304" pitchFamily="18" charset="0"/>
                <a:cs typeface="Times New Roman" panose="02020603050405020304" pitchFamily="18" charset="0"/>
              </a:rPr>
              <a:t>across all metrics, reinforcing the advantage of ensemble and advanced models.</a:t>
            </a:r>
          </a:p>
        </p:txBody>
      </p:sp>
      <p:pic>
        <p:nvPicPr>
          <p:cNvPr id="6" name="Picture 5">
            <a:extLst>
              <a:ext uri="{FF2B5EF4-FFF2-40B4-BE49-F238E27FC236}">
                <a16:creationId xmlns:a16="http://schemas.microsoft.com/office/drawing/2014/main" id="{4BE09840-B9DB-D31C-AD55-5E5CFB362DCE}"/>
              </a:ext>
            </a:extLst>
          </p:cNvPr>
          <p:cNvPicPr>
            <a:picLocks noChangeAspect="1"/>
          </p:cNvPicPr>
          <p:nvPr/>
        </p:nvPicPr>
        <p:blipFill>
          <a:blip r:embed="rId4"/>
          <a:stretch>
            <a:fillRect/>
          </a:stretch>
        </p:blipFill>
        <p:spPr>
          <a:xfrm>
            <a:off x="720773" y="1108433"/>
            <a:ext cx="7717847" cy="1347123"/>
          </a:xfrm>
          <a:prstGeom prst="rect">
            <a:avLst/>
          </a:prstGeom>
          <a:ln>
            <a:solidFill>
              <a:schemeClr val="tx1"/>
            </a:solidFill>
          </a:ln>
        </p:spPr>
      </p:pic>
    </p:spTree>
    <p:extLst>
      <p:ext uri="{BB962C8B-B14F-4D97-AF65-F5344CB8AC3E}">
        <p14:creationId xmlns:p14="http://schemas.microsoft.com/office/powerpoint/2010/main" val="2413415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8EE89464-7EF0-31B3-A40E-5D60C9FEE2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0FAD35B-028D-2062-DFDB-B1710555A289}"/>
              </a:ext>
            </a:extLst>
          </p:cNvPr>
          <p:cNvPicPr>
            <a:picLocks noChangeAspect="1"/>
          </p:cNvPicPr>
          <p:nvPr/>
        </p:nvPicPr>
        <p:blipFill>
          <a:blip r:embed="rId3"/>
          <a:stretch>
            <a:fillRect/>
          </a:stretch>
        </p:blipFill>
        <p:spPr>
          <a:xfrm>
            <a:off x="15397" y="0"/>
            <a:ext cx="9113206" cy="5143500"/>
          </a:xfrm>
          <a:prstGeom prst="rect">
            <a:avLst/>
          </a:prstGeom>
        </p:spPr>
      </p:pic>
      <p:sp>
        <p:nvSpPr>
          <p:cNvPr id="4" name="Google Shape;88;p5">
            <a:extLst>
              <a:ext uri="{FF2B5EF4-FFF2-40B4-BE49-F238E27FC236}">
                <a16:creationId xmlns:a16="http://schemas.microsoft.com/office/drawing/2014/main" id="{452624B1-D239-F901-33F7-522F1F44C751}"/>
              </a:ext>
            </a:extLst>
          </p:cNvPr>
          <p:cNvSpPr txBox="1">
            <a:spLocks/>
          </p:cNvSpPr>
          <p:nvPr/>
        </p:nvSpPr>
        <p:spPr>
          <a:xfrm>
            <a:off x="547008" y="1283835"/>
            <a:ext cx="4575326" cy="2949498"/>
          </a:xfrm>
          <a:prstGeom prst="rect">
            <a:avLst/>
          </a:prstGeom>
          <a:noFill/>
          <a:ln>
            <a:noFill/>
          </a:ln>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500" b="1" dirty="0">
                <a:latin typeface="Times New Roman" panose="02020603050405020304" pitchFamily="18" charset="0"/>
                <a:ea typeface="Tahoma" panose="020B0604030504040204" pitchFamily="34" charset="0"/>
                <a:cs typeface="Times New Roman" panose="02020603050405020304" pitchFamily="18" charset="0"/>
              </a:rPr>
              <a:t>Hyperparameter Tuning</a:t>
            </a:r>
          </a:p>
          <a:p>
            <a:r>
              <a:rPr lang="en-IN" sz="1500" dirty="0">
                <a:latin typeface="Times New Roman" panose="02020603050405020304" pitchFamily="18" charset="0"/>
                <a:ea typeface="Tahoma" panose="020B0604030504040204" pitchFamily="34" charset="0"/>
                <a:cs typeface="Times New Roman" panose="02020603050405020304" pitchFamily="18" charset="0"/>
              </a:rPr>
              <a:t>Multiple ML models were optimized using tuned parameters such as:</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Balanced class weighting </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Increased estimators (</a:t>
            </a:r>
            <a:r>
              <a:rPr lang="en-IN" sz="1500" dirty="0" err="1">
                <a:latin typeface="Times New Roman" panose="02020603050405020304" pitchFamily="18" charset="0"/>
                <a:ea typeface="Tahoma" panose="020B0604030504040204" pitchFamily="34" charset="0"/>
                <a:cs typeface="Times New Roman" panose="02020603050405020304" pitchFamily="18" charset="0"/>
              </a:rPr>
              <a:t>n_estimators</a:t>
            </a:r>
            <a:r>
              <a:rPr lang="en-IN" sz="1500" dirty="0">
                <a:latin typeface="Times New Roman" panose="02020603050405020304" pitchFamily="18" charset="0"/>
                <a:ea typeface="Tahoma" panose="020B0604030504040204" pitchFamily="34" charset="0"/>
                <a:cs typeface="Times New Roman" panose="02020603050405020304" pitchFamily="18" charset="0"/>
              </a:rPr>
              <a:t>=300) </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Higher iterations (</a:t>
            </a:r>
            <a:r>
              <a:rPr lang="en-IN" sz="1500" dirty="0" err="1">
                <a:latin typeface="Times New Roman" panose="02020603050405020304" pitchFamily="18" charset="0"/>
                <a:ea typeface="Tahoma" panose="020B0604030504040204" pitchFamily="34" charset="0"/>
                <a:cs typeface="Times New Roman" panose="02020603050405020304" pitchFamily="18" charset="0"/>
              </a:rPr>
              <a:t>max_iter</a:t>
            </a:r>
            <a:r>
              <a:rPr lang="en-IN" sz="1500" dirty="0">
                <a:latin typeface="Times New Roman" panose="02020603050405020304" pitchFamily="18" charset="0"/>
                <a:ea typeface="Tahoma" panose="020B0604030504040204" pitchFamily="34" charset="0"/>
                <a:cs typeface="Times New Roman" panose="02020603050405020304" pitchFamily="18" charset="0"/>
              </a:rPr>
              <a:t>) </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Early stopping for MLP </a:t>
            </a:r>
          </a:p>
          <a:p>
            <a:pPr marL="285750" indent="-285750">
              <a:buFont typeface="Arial" panose="020B0604020202020204" pitchFamily="34" charset="0"/>
              <a:buChar char="•"/>
            </a:pPr>
            <a:endParaRPr lang="en-IN" sz="1500" dirty="0">
              <a:latin typeface="Times New Roman" panose="02020603050405020304" pitchFamily="18" charset="0"/>
              <a:ea typeface="Tahoma" panose="020B0604030504040204" pitchFamily="34" charset="0"/>
              <a:cs typeface="Times New Roman" panose="02020603050405020304" pitchFamily="18" charset="0"/>
            </a:endParaRPr>
          </a:p>
          <a:p>
            <a:r>
              <a:rPr lang="en-IN" sz="1500" b="1" dirty="0">
                <a:latin typeface="Times New Roman" panose="02020603050405020304" pitchFamily="18" charset="0"/>
                <a:ea typeface="Tahoma" panose="020B0604030504040204" pitchFamily="34" charset="0"/>
                <a:cs typeface="Times New Roman" panose="02020603050405020304" pitchFamily="18" charset="0"/>
              </a:rPr>
              <a:t>This improved:</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Recall </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Model stability </a:t>
            </a:r>
          </a:p>
          <a:p>
            <a:pPr marL="285750" indent="-285750">
              <a:buFont typeface="Arial" panose="020B0604020202020204" pitchFamily="34" charset="0"/>
              <a:buChar char="•"/>
            </a:pPr>
            <a:r>
              <a:rPr lang="en-IN" sz="1500" dirty="0">
                <a:latin typeface="Times New Roman" panose="02020603050405020304" pitchFamily="18" charset="0"/>
                <a:ea typeface="Tahoma" panose="020B0604030504040204" pitchFamily="34" charset="0"/>
                <a:cs typeface="Times New Roman" panose="02020603050405020304" pitchFamily="18" charset="0"/>
              </a:rPr>
              <a:t>Class imbalance handling</a:t>
            </a:r>
          </a:p>
          <a:p>
            <a:endParaRPr lang="en-IN" sz="15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2" name="Google Shape;75;p3">
            <a:extLst>
              <a:ext uri="{FF2B5EF4-FFF2-40B4-BE49-F238E27FC236}">
                <a16:creationId xmlns:a16="http://schemas.microsoft.com/office/drawing/2014/main" id="{7C284A14-B126-94D4-E00C-0854E2E4C8B2}"/>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IN" sz="3000" dirty="0">
                <a:latin typeface="Times New Roman" panose="02020603050405020304" pitchFamily="18" charset="0"/>
                <a:cs typeface="Times New Roman" panose="02020603050405020304" pitchFamily="18" charset="0"/>
              </a:rPr>
              <a:t>Hyperparameter Tuning &amp; Threshold Optimization</a:t>
            </a:r>
            <a:endParaRPr lang="en-IN" sz="3000" dirty="0">
              <a:latin typeface="Times New Roman" panose="02020603050405020304" pitchFamily="18" charset="0"/>
              <a:ea typeface="Fira Sans"/>
              <a:cs typeface="Times New Roman" panose="02020603050405020304" pitchFamily="18" charset="0"/>
              <a:sym typeface="Fira San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0548514-1A54-4135-5F87-92E878DC5F2B}"/>
                  </a:ext>
                </a:extLst>
              </p:cNvPr>
              <p:cNvSpPr txBox="1"/>
              <p:nvPr/>
            </p:nvSpPr>
            <p:spPr>
              <a:xfrm>
                <a:off x="4656667" y="1343102"/>
                <a:ext cx="4106333" cy="2631490"/>
              </a:xfrm>
              <a:prstGeom prst="rect">
                <a:avLst/>
              </a:prstGeom>
              <a:noFill/>
            </p:spPr>
            <p:txBody>
              <a:bodyPr wrap="square" rtlCol="0">
                <a:spAutoFit/>
              </a:bodyPr>
              <a:lstStyle/>
              <a:p>
                <a:r>
                  <a:rPr lang="en-US" sz="1500" b="1" dirty="0">
                    <a:latin typeface="Times New Roman" panose="02020603050405020304" pitchFamily="18" charset="0"/>
                    <a:cs typeface="Times New Roman" panose="02020603050405020304" pitchFamily="18" charset="0"/>
                  </a:rPr>
                  <a:t>Threshold Optimization</a:t>
                </a:r>
              </a:p>
              <a:p>
                <a:r>
                  <a:rPr lang="en-US" sz="1500" dirty="0">
                    <a:latin typeface="Times New Roman" panose="02020603050405020304" pitchFamily="18" charset="0"/>
                    <a:cs typeface="Times New Roman" panose="02020603050405020304" pitchFamily="18" charset="0"/>
                  </a:rPr>
                  <a:t>Instead of the default threshold (0.5), a custom threshold of:</a:t>
                </a:r>
              </a:p>
              <a:p>
                <a:pPr/>
                <a14:m>
                  <m:oMathPara xmlns:m="http://schemas.openxmlformats.org/officeDocument/2006/math">
                    <m:oMathParaPr>
                      <m:jc m:val="centerGroup"/>
                    </m:oMathParaPr>
                    <m:oMath xmlns:m="http://schemas.openxmlformats.org/officeDocument/2006/math">
                      <m:r>
                        <a:rPr lang="en-US" sz="1500">
                          <a:latin typeface="Cambria Math" panose="02040503050406030204" pitchFamily="18" charset="0"/>
                        </a:rPr>
                        <m:t>0.35</m:t>
                      </m:r>
                    </m:oMath>
                  </m:oMathPara>
                </a14:m>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was used to improve churn detection.</a:t>
                </a:r>
              </a:p>
              <a:p>
                <a:r>
                  <a:rPr lang="en-US" sz="1500" b="1" dirty="0">
                    <a:latin typeface="Times New Roman" panose="02020603050405020304" pitchFamily="18" charset="0"/>
                    <a:cs typeface="Times New Roman" panose="02020603050405020304" pitchFamily="18" charset="0"/>
                  </a:rPr>
                  <a:t>Benefits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Higher Recall &amp; F2-score</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Reduced False Negatives</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Better high-risk customer identification</a:t>
                </a:r>
              </a:p>
              <a:p>
                <a:pPr marL="285750" indent="-285750">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Improved customer retention strategy</a:t>
                </a:r>
              </a:p>
              <a:p>
                <a:endParaRPr lang="en-IN" sz="15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0548514-1A54-4135-5F87-92E878DC5F2B}"/>
                  </a:ext>
                </a:extLst>
              </p:cNvPr>
              <p:cNvSpPr txBox="1">
                <a:spLocks noRot="1" noChangeAspect="1" noMove="1" noResize="1" noEditPoints="1" noAdjustHandles="1" noChangeArrowheads="1" noChangeShapeType="1" noTextEdit="1"/>
              </p:cNvSpPr>
              <p:nvPr/>
            </p:nvSpPr>
            <p:spPr>
              <a:xfrm>
                <a:off x="4656667" y="1343102"/>
                <a:ext cx="4106333" cy="2631490"/>
              </a:xfrm>
              <a:prstGeom prst="rect">
                <a:avLst/>
              </a:prstGeom>
              <a:blipFill>
                <a:blip r:embed="rId4"/>
                <a:stretch>
                  <a:fillRect l="-593" t="-463"/>
                </a:stretch>
              </a:blipFill>
            </p:spPr>
            <p:txBody>
              <a:bodyPr/>
              <a:lstStyle/>
              <a:p>
                <a:r>
                  <a:rPr lang="en-IN">
                    <a:noFill/>
                  </a:rPr>
                  <a:t> </a:t>
                </a:r>
              </a:p>
            </p:txBody>
          </p:sp>
        </mc:Fallback>
      </mc:AlternateContent>
    </p:spTree>
    <p:extLst>
      <p:ext uri="{BB962C8B-B14F-4D97-AF65-F5344CB8AC3E}">
        <p14:creationId xmlns:p14="http://schemas.microsoft.com/office/powerpoint/2010/main" val="338859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D74ABEDD-821D-CEB6-7421-72F294F9BB3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F63015F-2E10-B37D-A3B2-CDF1CAA363DF}"/>
              </a:ext>
            </a:extLst>
          </p:cNvPr>
          <p:cNvPicPr>
            <a:picLocks noChangeAspect="1"/>
          </p:cNvPicPr>
          <p:nvPr/>
        </p:nvPicPr>
        <p:blipFill>
          <a:blip r:embed="rId3"/>
          <a:stretch>
            <a:fillRect/>
          </a:stretch>
        </p:blipFill>
        <p:spPr>
          <a:xfrm>
            <a:off x="6930" y="-16934"/>
            <a:ext cx="9113206" cy="5143500"/>
          </a:xfrm>
          <a:prstGeom prst="rect">
            <a:avLst/>
          </a:prstGeom>
        </p:spPr>
      </p:pic>
      <p:sp>
        <p:nvSpPr>
          <p:cNvPr id="12" name="Google Shape;75;p3">
            <a:extLst>
              <a:ext uri="{FF2B5EF4-FFF2-40B4-BE49-F238E27FC236}">
                <a16:creationId xmlns:a16="http://schemas.microsoft.com/office/drawing/2014/main" id="{2AE9A610-1EDE-DCF0-C782-167089E9F3FA}"/>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Final Model Performance</a:t>
            </a:r>
            <a:endParaRPr lang="en-IN" sz="3000" dirty="0">
              <a:latin typeface="Times New Roman" panose="02020603050405020304" pitchFamily="18" charset="0"/>
              <a:ea typeface="Fira Sans"/>
              <a:cs typeface="Times New Roman" panose="02020603050405020304" pitchFamily="18" charset="0"/>
              <a:sym typeface="Fira Sans"/>
            </a:endParaRPr>
          </a:p>
        </p:txBody>
      </p:sp>
      <p:graphicFrame>
        <p:nvGraphicFramePr>
          <p:cNvPr id="3" name="Table 2">
            <a:extLst>
              <a:ext uri="{FF2B5EF4-FFF2-40B4-BE49-F238E27FC236}">
                <a16:creationId xmlns:a16="http://schemas.microsoft.com/office/drawing/2014/main" id="{A9C3D70C-5DA6-374F-BED6-47B9C6FE9524}"/>
              </a:ext>
            </a:extLst>
          </p:cNvPr>
          <p:cNvGraphicFramePr>
            <a:graphicFrameLocks noGrp="1"/>
          </p:cNvGraphicFramePr>
          <p:nvPr>
            <p:extLst>
              <p:ext uri="{D42A27DB-BD31-4B8C-83A1-F6EECF244321}">
                <p14:modId xmlns:p14="http://schemas.microsoft.com/office/powerpoint/2010/main" val="3863417562"/>
              </p:ext>
            </p:extLst>
          </p:nvPr>
        </p:nvGraphicFramePr>
        <p:xfrm>
          <a:off x="579663" y="1708685"/>
          <a:ext cx="2139044" cy="2194560"/>
        </p:xfrm>
        <a:graphic>
          <a:graphicData uri="http://schemas.openxmlformats.org/drawingml/2006/table">
            <a:tbl>
              <a:tblPr firstRow="1" bandRow="1">
                <a:tableStyleId>{8799B23B-EC83-4686-B30A-512413B5E67A}</a:tableStyleId>
              </a:tblPr>
              <a:tblGrid>
                <a:gridCol w="1069522">
                  <a:extLst>
                    <a:ext uri="{9D8B030D-6E8A-4147-A177-3AD203B41FA5}">
                      <a16:colId xmlns:a16="http://schemas.microsoft.com/office/drawing/2014/main" val="3962029222"/>
                    </a:ext>
                  </a:extLst>
                </a:gridCol>
                <a:gridCol w="1069522">
                  <a:extLst>
                    <a:ext uri="{9D8B030D-6E8A-4147-A177-3AD203B41FA5}">
                      <a16:colId xmlns:a16="http://schemas.microsoft.com/office/drawing/2014/main" val="1186590528"/>
                    </a:ext>
                  </a:extLst>
                </a:gridCol>
              </a:tblGrid>
              <a:tr h="226265">
                <a:tc>
                  <a:txBody>
                    <a:bodyPr/>
                    <a:lstStyle/>
                    <a:p>
                      <a:pPr algn="ctr"/>
                      <a:r>
                        <a:rPr lang="en-IN" sz="1200" dirty="0">
                          <a:latin typeface="Times New Roman" panose="02020603050405020304" pitchFamily="18" charset="0"/>
                          <a:cs typeface="Times New Roman" panose="02020603050405020304" pitchFamily="18" charset="0"/>
                        </a:rPr>
                        <a:t>Metric</a:t>
                      </a:r>
                    </a:p>
                  </a:txBody>
                  <a:tcPr/>
                </a:tc>
                <a:tc>
                  <a:txBody>
                    <a:bodyPr/>
                    <a:lstStyle/>
                    <a:p>
                      <a:pPr algn="ctr"/>
                      <a:r>
                        <a:rPr lang="en-IN" sz="1200">
                          <a:latin typeface="Times New Roman" panose="02020603050405020304" pitchFamily="18" charset="0"/>
                          <a:cs typeface="Times New Roman" panose="02020603050405020304" pitchFamily="18" charset="0"/>
                        </a:rPr>
                        <a:t>Score</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893186"/>
                  </a:ext>
                </a:extLst>
              </a:tr>
              <a:tr h="226265">
                <a:tc>
                  <a:txBody>
                    <a:bodyPr/>
                    <a:lstStyle/>
                    <a:p>
                      <a:pPr algn="ctr"/>
                      <a:r>
                        <a:rPr lang="en-IN" sz="1200" dirty="0">
                          <a:latin typeface="Times New Roman" panose="02020603050405020304" pitchFamily="18" charset="0"/>
                          <a:cs typeface="Times New Roman" panose="02020603050405020304" pitchFamily="18" charset="0"/>
                        </a:rPr>
                        <a:t>Accuracy</a:t>
                      </a:r>
                    </a:p>
                  </a:txBody>
                  <a:tcPr/>
                </a:tc>
                <a:tc>
                  <a:txBody>
                    <a:bodyPr/>
                    <a:lstStyle/>
                    <a:p>
                      <a:pPr algn="ctr"/>
                      <a:r>
                        <a:rPr lang="en-IN" sz="1200" dirty="0">
                          <a:latin typeface="Times New Roman" panose="02020603050405020304" pitchFamily="18" charset="0"/>
                          <a:cs typeface="Times New Roman" panose="02020603050405020304" pitchFamily="18" charset="0"/>
                        </a:rPr>
                        <a:t>0.9975</a:t>
                      </a:r>
                    </a:p>
                  </a:txBody>
                  <a:tcPr/>
                </a:tc>
                <a:extLst>
                  <a:ext uri="{0D108BD9-81ED-4DB2-BD59-A6C34878D82A}">
                    <a16:rowId xmlns:a16="http://schemas.microsoft.com/office/drawing/2014/main" val="244266646"/>
                  </a:ext>
                </a:extLst>
              </a:tr>
              <a:tr h="226265">
                <a:tc>
                  <a:txBody>
                    <a:bodyPr/>
                    <a:lstStyle/>
                    <a:p>
                      <a:pPr algn="ctr"/>
                      <a:r>
                        <a:rPr lang="en-IN" sz="1200" dirty="0">
                          <a:latin typeface="Times New Roman" panose="02020603050405020304" pitchFamily="18" charset="0"/>
                          <a:cs typeface="Times New Roman" panose="02020603050405020304" pitchFamily="18" charset="0"/>
                        </a:rPr>
                        <a:t>Precision</a:t>
                      </a:r>
                    </a:p>
                  </a:txBody>
                  <a:tcPr/>
                </a:tc>
                <a:tc>
                  <a:txBody>
                    <a:bodyPr/>
                    <a:lstStyle/>
                    <a:p>
                      <a:pPr algn="ctr"/>
                      <a:r>
                        <a:rPr lang="en-IN" sz="1200" dirty="0">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3466260383"/>
                  </a:ext>
                </a:extLst>
              </a:tr>
              <a:tr h="226265">
                <a:tc>
                  <a:txBody>
                    <a:bodyPr/>
                    <a:lstStyle/>
                    <a:p>
                      <a:pPr algn="ctr"/>
                      <a:r>
                        <a:rPr lang="en-IN" sz="1200" dirty="0">
                          <a:latin typeface="Times New Roman" panose="02020603050405020304" pitchFamily="18" charset="0"/>
                          <a:cs typeface="Times New Roman" panose="02020603050405020304" pitchFamily="18" charset="0"/>
                        </a:rPr>
                        <a:t>Recall</a:t>
                      </a:r>
                    </a:p>
                  </a:txBody>
                  <a:tcPr/>
                </a:tc>
                <a:tc>
                  <a:txBody>
                    <a:bodyPr/>
                    <a:lstStyle/>
                    <a:p>
                      <a:pPr algn="ctr"/>
                      <a:r>
                        <a:rPr lang="en-IN" sz="1200" dirty="0">
                          <a:latin typeface="Times New Roman" panose="02020603050405020304" pitchFamily="18" charset="0"/>
                          <a:cs typeface="Times New Roman" panose="02020603050405020304" pitchFamily="18" charset="0"/>
                        </a:rPr>
                        <a:t>0.9847</a:t>
                      </a:r>
                    </a:p>
                  </a:txBody>
                  <a:tcPr/>
                </a:tc>
                <a:extLst>
                  <a:ext uri="{0D108BD9-81ED-4DB2-BD59-A6C34878D82A}">
                    <a16:rowId xmlns:a16="http://schemas.microsoft.com/office/drawing/2014/main" val="2212382981"/>
                  </a:ext>
                </a:extLst>
              </a:tr>
              <a:tr h="226265">
                <a:tc>
                  <a:txBody>
                    <a:bodyPr/>
                    <a:lstStyle/>
                    <a:p>
                      <a:pPr algn="ctr"/>
                      <a:r>
                        <a:rPr lang="en-IN" sz="1200" dirty="0">
                          <a:latin typeface="Times New Roman" panose="02020603050405020304" pitchFamily="18" charset="0"/>
                          <a:cs typeface="Times New Roman" panose="02020603050405020304" pitchFamily="18" charset="0"/>
                        </a:rPr>
                        <a:t>F1-Score</a:t>
                      </a:r>
                    </a:p>
                  </a:txBody>
                  <a:tcPr/>
                </a:tc>
                <a:tc>
                  <a:txBody>
                    <a:bodyPr/>
                    <a:lstStyle/>
                    <a:p>
                      <a:pPr algn="ctr"/>
                      <a:r>
                        <a:rPr lang="en-IN" sz="1200" dirty="0">
                          <a:latin typeface="Times New Roman" panose="02020603050405020304" pitchFamily="18" charset="0"/>
                          <a:cs typeface="Times New Roman" panose="02020603050405020304" pitchFamily="18" charset="0"/>
                        </a:rPr>
                        <a:t>0.9923</a:t>
                      </a:r>
                    </a:p>
                  </a:txBody>
                  <a:tcPr/>
                </a:tc>
                <a:extLst>
                  <a:ext uri="{0D108BD9-81ED-4DB2-BD59-A6C34878D82A}">
                    <a16:rowId xmlns:a16="http://schemas.microsoft.com/office/drawing/2014/main" val="3829802776"/>
                  </a:ext>
                </a:extLst>
              </a:tr>
              <a:tr h="226265">
                <a:tc>
                  <a:txBody>
                    <a:bodyPr/>
                    <a:lstStyle/>
                    <a:p>
                      <a:pPr algn="ctr"/>
                      <a:r>
                        <a:rPr lang="en-IN" sz="1200" dirty="0">
                          <a:latin typeface="Times New Roman" panose="02020603050405020304" pitchFamily="18" charset="0"/>
                          <a:cs typeface="Times New Roman" panose="02020603050405020304" pitchFamily="18" charset="0"/>
                        </a:rPr>
                        <a:t>F2-Score</a:t>
                      </a:r>
                    </a:p>
                  </a:txBody>
                  <a:tcPr/>
                </a:tc>
                <a:tc>
                  <a:txBody>
                    <a:bodyPr/>
                    <a:lstStyle/>
                    <a:p>
                      <a:pPr algn="ctr"/>
                      <a:r>
                        <a:rPr lang="en-IN" sz="1200" dirty="0">
                          <a:latin typeface="Times New Roman" panose="02020603050405020304" pitchFamily="18" charset="0"/>
                          <a:cs typeface="Times New Roman" panose="02020603050405020304" pitchFamily="18" charset="0"/>
                        </a:rPr>
                        <a:t>0.9877</a:t>
                      </a:r>
                    </a:p>
                  </a:txBody>
                  <a:tcPr/>
                </a:tc>
                <a:extLst>
                  <a:ext uri="{0D108BD9-81ED-4DB2-BD59-A6C34878D82A}">
                    <a16:rowId xmlns:a16="http://schemas.microsoft.com/office/drawing/2014/main" val="2195619171"/>
                  </a:ext>
                </a:extLst>
              </a:tr>
              <a:tr h="226265">
                <a:tc>
                  <a:txBody>
                    <a:bodyPr/>
                    <a:lstStyle/>
                    <a:p>
                      <a:pPr algn="ctr"/>
                      <a:r>
                        <a:rPr lang="en-IN" sz="1200" dirty="0">
                          <a:latin typeface="Times New Roman" panose="02020603050405020304" pitchFamily="18" charset="0"/>
                          <a:cs typeface="Times New Roman" panose="02020603050405020304" pitchFamily="18" charset="0"/>
                        </a:rPr>
                        <a:t>ROC-AUC</a:t>
                      </a:r>
                    </a:p>
                  </a:txBody>
                  <a:tcPr/>
                </a:tc>
                <a:tc>
                  <a:txBody>
                    <a:bodyPr/>
                    <a:lstStyle/>
                    <a:p>
                      <a:pPr algn="ctr"/>
                      <a:r>
                        <a:rPr lang="en-IN" sz="1200" dirty="0">
                          <a:latin typeface="Times New Roman" panose="02020603050405020304" pitchFamily="18" charset="0"/>
                          <a:cs typeface="Times New Roman" panose="02020603050405020304" pitchFamily="18" charset="0"/>
                        </a:rPr>
                        <a:t>0.9999</a:t>
                      </a:r>
                    </a:p>
                  </a:txBody>
                  <a:tcPr/>
                </a:tc>
                <a:extLst>
                  <a:ext uri="{0D108BD9-81ED-4DB2-BD59-A6C34878D82A}">
                    <a16:rowId xmlns:a16="http://schemas.microsoft.com/office/drawing/2014/main" val="957760188"/>
                  </a:ext>
                </a:extLst>
              </a:tr>
              <a:tr h="226265">
                <a:tc>
                  <a:txBody>
                    <a:bodyPr/>
                    <a:lstStyle/>
                    <a:p>
                      <a:pPr algn="ctr"/>
                      <a:r>
                        <a:rPr lang="en-IN" sz="1200" dirty="0">
                          <a:latin typeface="Times New Roman" panose="02020603050405020304" pitchFamily="18" charset="0"/>
                          <a:cs typeface="Times New Roman" panose="02020603050405020304" pitchFamily="18" charset="0"/>
                        </a:rPr>
                        <a:t>PR-AUC</a:t>
                      </a:r>
                    </a:p>
                  </a:txBody>
                  <a:tcPr/>
                </a:tc>
                <a:tc>
                  <a:txBody>
                    <a:bodyPr/>
                    <a:lstStyle/>
                    <a:p>
                      <a:pPr algn="ctr"/>
                      <a:r>
                        <a:rPr lang="en-IN" sz="1200" dirty="0">
                          <a:latin typeface="Times New Roman" panose="02020603050405020304" pitchFamily="18" charset="0"/>
                          <a:cs typeface="Times New Roman" panose="02020603050405020304" pitchFamily="18" charset="0"/>
                        </a:rPr>
                        <a:t>0.9998</a:t>
                      </a:r>
                    </a:p>
                  </a:txBody>
                  <a:tcPr/>
                </a:tc>
                <a:extLst>
                  <a:ext uri="{0D108BD9-81ED-4DB2-BD59-A6C34878D82A}">
                    <a16:rowId xmlns:a16="http://schemas.microsoft.com/office/drawing/2014/main" val="1280339617"/>
                  </a:ext>
                </a:extLst>
              </a:tr>
            </a:tbl>
          </a:graphicData>
        </a:graphic>
      </p:graphicFrame>
      <p:sp>
        <p:nvSpPr>
          <p:cNvPr id="7" name="TextBox 6">
            <a:extLst>
              <a:ext uri="{FF2B5EF4-FFF2-40B4-BE49-F238E27FC236}">
                <a16:creationId xmlns:a16="http://schemas.microsoft.com/office/drawing/2014/main" id="{955F1074-7F3B-2B3B-8B21-B93690F46E73}"/>
              </a:ext>
            </a:extLst>
          </p:cNvPr>
          <p:cNvSpPr txBox="1"/>
          <p:nvPr/>
        </p:nvSpPr>
        <p:spPr>
          <a:xfrm>
            <a:off x="2930688" y="883287"/>
            <a:ext cx="5977467" cy="4016484"/>
          </a:xfrm>
          <a:prstGeom prst="rect">
            <a:avLst/>
          </a:prstGeom>
          <a:noFill/>
        </p:spPr>
        <p:txBody>
          <a:bodyPr wrap="square">
            <a:spAutoFit/>
          </a:bodyPr>
          <a:lstStyle/>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The model achieves </a:t>
            </a:r>
            <a:r>
              <a:rPr lang="en-US" altLang="en-US" sz="1500" b="1" dirty="0">
                <a:solidFill>
                  <a:schemeClr val="tx1"/>
                </a:solidFill>
                <a:latin typeface="Times New Roman" panose="02020603050405020304" pitchFamily="18" charset="0"/>
                <a:cs typeface="Times New Roman" panose="02020603050405020304" pitchFamily="18" charset="0"/>
              </a:rPr>
              <a:t>exceptional overall performance</a:t>
            </a:r>
            <a:r>
              <a:rPr lang="en-US" altLang="en-US" sz="1500" dirty="0">
                <a:solidFill>
                  <a:schemeClr val="tx1"/>
                </a:solidFill>
                <a:latin typeface="Times New Roman" panose="02020603050405020304" pitchFamily="18" charset="0"/>
                <a:cs typeface="Times New Roman" panose="02020603050405020304" pitchFamily="18" charset="0"/>
              </a:rPr>
              <a:t> with an </a:t>
            </a:r>
            <a:r>
              <a:rPr lang="en-US" altLang="en-US" sz="1500" b="1" dirty="0">
                <a:solidFill>
                  <a:schemeClr val="tx1"/>
                </a:solidFill>
                <a:latin typeface="Times New Roman" panose="02020603050405020304" pitchFamily="18" charset="0"/>
                <a:cs typeface="Times New Roman" panose="02020603050405020304" pitchFamily="18" charset="0"/>
              </a:rPr>
              <a:t>Accuracy of 99.75%</a:t>
            </a:r>
            <a:r>
              <a:rPr lang="en-US" altLang="en-US" sz="1500" dirty="0">
                <a:solidFill>
                  <a:schemeClr val="tx1"/>
                </a:solidFill>
                <a:latin typeface="Times New Roman" panose="02020603050405020304" pitchFamily="18" charset="0"/>
                <a:cs typeface="Times New Roman" panose="02020603050405020304" pitchFamily="18" charset="0"/>
              </a:rPr>
              <a:t>, indicating highly reliable predictions.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Precision of 100%</a:t>
            </a:r>
            <a:r>
              <a:rPr lang="en-US" altLang="en-US" sz="1500" dirty="0">
                <a:solidFill>
                  <a:schemeClr val="tx1"/>
                </a:solidFill>
                <a:latin typeface="Times New Roman" panose="02020603050405020304" pitchFamily="18" charset="0"/>
                <a:cs typeface="Times New Roman" panose="02020603050405020304" pitchFamily="18" charset="0"/>
              </a:rPr>
              <a:t> shows that nearly all predicted churners are actual churners, minimizing unnecessary retention efforts.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Recall of 98.47%</a:t>
            </a:r>
            <a:r>
              <a:rPr lang="en-US" altLang="en-US" sz="1500" dirty="0">
                <a:solidFill>
                  <a:schemeClr val="tx1"/>
                </a:solidFill>
                <a:latin typeface="Times New Roman" panose="02020603050405020304" pitchFamily="18" charset="0"/>
                <a:cs typeface="Times New Roman" panose="02020603050405020304" pitchFamily="18" charset="0"/>
              </a:rPr>
              <a:t> confirms that the model successfully captures most churned customers, significantly reducing revenue leakage.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Strong </a:t>
            </a:r>
            <a:r>
              <a:rPr lang="en-US" altLang="en-US" sz="1500" b="1" dirty="0">
                <a:solidFill>
                  <a:schemeClr val="tx1"/>
                </a:solidFill>
                <a:latin typeface="Times New Roman" panose="02020603050405020304" pitchFamily="18" charset="0"/>
                <a:cs typeface="Times New Roman" panose="02020603050405020304" pitchFamily="18" charset="0"/>
              </a:rPr>
              <a:t>F1-Score of 99.23%</a:t>
            </a:r>
            <a:r>
              <a:rPr lang="en-US" altLang="en-US" sz="1500" dirty="0">
                <a:solidFill>
                  <a:schemeClr val="tx1"/>
                </a:solidFill>
                <a:latin typeface="Times New Roman" panose="02020603050405020304" pitchFamily="18" charset="0"/>
                <a:cs typeface="Times New Roman" panose="02020603050405020304" pitchFamily="18" charset="0"/>
              </a:rPr>
              <a:t> reflects a balanced trade-off between precision and recall.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F2-Score of 98.77%</a:t>
            </a:r>
            <a:r>
              <a:rPr lang="en-US" altLang="en-US" sz="1500" dirty="0">
                <a:solidFill>
                  <a:schemeClr val="tx1"/>
                </a:solidFill>
                <a:latin typeface="Times New Roman" panose="02020603050405020304" pitchFamily="18" charset="0"/>
                <a:cs typeface="Times New Roman" panose="02020603050405020304" pitchFamily="18" charset="0"/>
              </a:rPr>
              <a:t> highlights the model’s strong focus on correctly identifying churners (recall-oriented performance).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Near-perfect </a:t>
            </a:r>
            <a:r>
              <a:rPr lang="en-US" altLang="en-US" sz="1500" b="1" dirty="0">
                <a:solidFill>
                  <a:schemeClr val="tx1"/>
                </a:solidFill>
                <a:latin typeface="Times New Roman" panose="02020603050405020304" pitchFamily="18" charset="0"/>
                <a:cs typeface="Times New Roman" panose="02020603050405020304" pitchFamily="18" charset="0"/>
              </a:rPr>
              <a:t>ROC-AUC of 0.9999</a:t>
            </a:r>
            <a:r>
              <a:rPr lang="en-US" altLang="en-US" sz="1500" dirty="0">
                <a:solidFill>
                  <a:schemeClr val="tx1"/>
                </a:solidFill>
                <a:latin typeface="Times New Roman" panose="02020603050405020304" pitchFamily="18" charset="0"/>
                <a:cs typeface="Times New Roman" panose="02020603050405020304" pitchFamily="18" charset="0"/>
              </a:rPr>
              <a:t> and </a:t>
            </a:r>
            <a:r>
              <a:rPr lang="en-US" altLang="en-US" sz="1500" b="1" dirty="0">
                <a:solidFill>
                  <a:schemeClr val="tx1"/>
                </a:solidFill>
                <a:latin typeface="Times New Roman" panose="02020603050405020304" pitchFamily="18" charset="0"/>
                <a:cs typeface="Times New Roman" panose="02020603050405020304" pitchFamily="18" charset="0"/>
              </a:rPr>
              <a:t>PR-AUC of 0.9998</a:t>
            </a:r>
            <a:r>
              <a:rPr lang="en-US" altLang="en-US" sz="1500" dirty="0">
                <a:solidFill>
                  <a:schemeClr val="tx1"/>
                </a:solidFill>
                <a:latin typeface="Times New Roman" panose="02020603050405020304" pitchFamily="18" charset="0"/>
                <a:cs typeface="Times New Roman" panose="02020603050405020304" pitchFamily="18" charset="0"/>
              </a:rPr>
              <a:t> indicate excellent class separation between churned and retained customers. </a:t>
            </a:r>
          </a:p>
          <a:p>
            <a:pPr lvl="0" algn="just" eaLnBrk="0" fontAlgn="base" hangingPunct="0">
              <a:spcBef>
                <a:spcPct val="0"/>
              </a:spcBef>
              <a:spcAft>
                <a:spcPct val="0"/>
              </a:spcAft>
              <a:buClrTx/>
            </a:pPr>
            <a:endParaRPr lang="en-US" sz="15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sz="1500" dirty="0">
                <a:latin typeface="Times New Roman" panose="02020603050405020304" pitchFamily="18" charset="0"/>
                <a:cs typeface="Times New Roman" panose="02020603050405020304" pitchFamily="18" charset="0"/>
              </a:rPr>
              <a:t>The </a:t>
            </a:r>
            <a:r>
              <a:rPr lang="en-US" sz="1500" b="1" dirty="0">
                <a:latin typeface="Times New Roman" panose="02020603050405020304" pitchFamily="18" charset="0"/>
                <a:cs typeface="Times New Roman" panose="02020603050405020304" pitchFamily="18" charset="0"/>
              </a:rPr>
              <a:t>Hist Gradient Boosting </a:t>
            </a:r>
            <a:r>
              <a:rPr lang="en-US" sz="1500" dirty="0">
                <a:latin typeface="Times New Roman" panose="02020603050405020304" pitchFamily="18" charset="0"/>
                <a:cs typeface="Times New Roman" panose="02020603050405020304" pitchFamily="18" charset="0"/>
              </a:rPr>
              <a:t>model demonstrates </a:t>
            </a:r>
            <a:r>
              <a:rPr lang="en-US" sz="1500" b="1" dirty="0">
                <a:latin typeface="Times New Roman" panose="02020603050405020304" pitchFamily="18" charset="0"/>
                <a:cs typeface="Times New Roman" panose="02020603050405020304" pitchFamily="18" charset="0"/>
              </a:rPr>
              <a:t>production-ready performance</a:t>
            </a:r>
            <a:r>
              <a:rPr lang="en-US" sz="1500" dirty="0">
                <a:latin typeface="Times New Roman" panose="02020603050405020304" pitchFamily="18" charset="0"/>
                <a:cs typeface="Times New Roman" panose="02020603050405020304" pitchFamily="18" charset="0"/>
              </a:rPr>
              <a:t>, delivering highly accurate churn detection with near-perfect separation ability, making it highly suitable for real-world deployment in customer retention systems.</a:t>
            </a:r>
            <a:endParaRPr lang="en-US" altLang="en-US" sz="15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0070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5BA091B4-B5DD-9820-A118-FB11BD97C64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042B04E-B6F6-21D7-6C22-53ED61B8AFFA}"/>
              </a:ext>
            </a:extLst>
          </p:cNvPr>
          <p:cNvPicPr>
            <a:picLocks noChangeAspect="1"/>
          </p:cNvPicPr>
          <p:nvPr/>
        </p:nvPicPr>
        <p:blipFill>
          <a:blip r:embed="rId3"/>
          <a:stretch>
            <a:fillRect/>
          </a:stretch>
        </p:blipFill>
        <p:spPr>
          <a:xfrm>
            <a:off x="15397" y="0"/>
            <a:ext cx="9113206" cy="5143500"/>
          </a:xfrm>
          <a:prstGeom prst="rect">
            <a:avLst/>
          </a:prstGeom>
        </p:spPr>
      </p:pic>
      <p:pic>
        <p:nvPicPr>
          <p:cNvPr id="4" name="Picture 3">
            <a:extLst>
              <a:ext uri="{FF2B5EF4-FFF2-40B4-BE49-F238E27FC236}">
                <a16:creationId xmlns:a16="http://schemas.microsoft.com/office/drawing/2014/main" id="{DC081759-79B5-C89E-A6C0-E1C88844BB0A}"/>
              </a:ext>
            </a:extLst>
          </p:cNvPr>
          <p:cNvPicPr>
            <a:picLocks noChangeAspect="1"/>
          </p:cNvPicPr>
          <p:nvPr/>
        </p:nvPicPr>
        <p:blipFill>
          <a:blip r:embed="rId4"/>
          <a:stretch>
            <a:fillRect/>
          </a:stretch>
        </p:blipFill>
        <p:spPr>
          <a:xfrm>
            <a:off x="5082209" y="732408"/>
            <a:ext cx="3427328" cy="2856106"/>
          </a:xfrm>
          <a:prstGeom prst="rect">
            <a:avLst/>
          </a:prstGeom>
        </p:spPr>
      </p:pic>
      <p:sp>
        <p:nvSpPr>
          <p:cNvPr id="12" name="Google Shape;75;p3">
            <a:extLst>
              <a:ext uri="{FF2B5EF4-FFF2-40B4-BE49-F238E27FC236}">
                <a16:creationId xmlns:a16="http://schemas.microsoft.com/office/drawing/2014/main" id="{F06A1947-B5DE-CFC8-8FC9-8D6415B3AE7F}"/>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IN" sz="3000" dirty="0">
                <a:latin typeface="Times New Roman" panose="02020603050405020304" pitchFamily="18" charset="0"/>
                <a:cs typeface="Times New Roman" panose="02020603050405020304" pitchFamily="18" charset="0"/>
              </a:rPr>
              <a:t>ROC Curve &amp; Confusion Matrix</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10" name="TextBox 9">
            <a:extLst>
              <a:ext uri="{FF2B5EF4-FFF2-40B4-BE49-F238E27FC236}">
                <a16:creationId xmlns:a16="http://schemas.microsoft.com/office/drawing/2014/main" id="{38060472-07B1-5D6D-4BA6-95B5E1609EDA}"/>
              </a:ext>
            </a:extLst>
          </p:cNvPr>
          <p:cNvSpPr txBox="1"/>
          <p:nvPr/>
        </p:nvSpPr>
        <p:spPr>
          <a:xfrm>
            <a:off x="4754801" y="3388668"/>
            <a:ext cx="4261756" cy="1708160"/>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Interpretation:</a:t>
            </a:r>
          </a:p>
          <a:p>
            <a:pPr algn="just"/>
            <a:r>
              <a:rPr lang="en-US" sz="1500" dirty="0">
                <a:latin typeface="Times New Roman" panose="02020603050405020304" pitchFamily="18" charset="0"/>
                <a:cs typeface="Times New Roman" panose="02020603050405020304" pitchFamily="18" charset="0"/>
              </a:rPr>
              <a:t>The model correctly identifies 257 out of 261 churned customers with only 0 false positive and 4 false negatives. </a:t>
            </a:r>
            <a:r>
              <a:rPr lang="en-US" sz="1500" b="1" dirty="0">
                <a:latin typeface="Times New Roman" panose="02020603050405020304" pitchFamily="18" charset="0"/>
                <a:cs typeface="Times New Roman" panose="02020603050405020304" pitchFamily="18" charset="0"/>
              </a:rPr>
              <a:t>Conclusion:</a:t>
            </a:r>
            <a:r>
              <a:rPr lang="en-US" sz="1500" dirty="0">
                <a:latin typeface="Times New Roman" panose="02020603050405020304" pitchFamily="18" charset="0"/>
                <a:cs typeface="Times New Roman" panose="02020603050405020304" pitchFamily="18" charset="0"/>
              </a:rPr>
              <a:t> Extremely low errors indicate near-perfect performance, but also reinforce the likelihood of leakage or overly strong predictive features.</a:t>
            </a:r>
            <a:endParaRPr lang="en-IN" sz="15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086AE58-0CBD-404E-9A07-76D0CCF28F42}"/>
              </a:ext>
            </a:extLst>
          </p:cNvPr>
          <p:cNvSpPr txBox="1"/>
          <p:nvPr/>
        </p:nvSpPr>
        <p:spPr>
          <a:xfrm>
            <a:off x="396787" y="3388668"/>
            <a:ext cx="4261756" cy="1477328"/>
          </a:xfrm>
          <a:prstGeom prst="rect">
            <a:avLst/>
          </a:prstGeom>
          <a:noFill/>
        </p:spPr>
        <p:txBody>
          <a:bodyPr wrap="square" rtlCol="0">
            <a:spAutoFit/>
          </a:bodyPr>
          <a:lstStyle/>
          <a:p>
            <a:pPr algn="just"/>
            <a:r>
              <a:rPr lang="en-US" sz="1500" b="1" dirty="0">
                <a:latin typeface="Times New Roman" panose="02020603050405020304" pitchFamily="18" charset="0"/>
                <a:cs typeface="Times New Roman" panose="02020603050405020304" pitchFamily="18" charset="0"/>
              </a:rPr>
              <a:t>Interpretation:</a:t>
            </a:r>
          </a:p>
          <a:p>
            <a:pPr algn="just"/>
            <a:r>
              <a:rPr lang="en-US" sz="1500" dirty="0">
                <a:latin typeface="Times New Roman" panose="02020603050405020304" pitchFamily="18" charset="0"/>
                <a:cs typeface="Times New Roman" panose="02020603050405020304" pitchFamily="18" charset="0"/>
              </a:rPr>
              <a:t>The ROC curve shows an AUC of 1.0000, indicating perfect separation between churned and retained customers. This unusually perfect score suggests possible data leakage or overfitting and should be carefully validated.</a:t>
            </a:r>
            <a:endParaRPr lang="en-IN" sz="15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B4F3D3-7BE5-FCBE-96FB-3C4371B76C0B}"/>
              </a:ext>
            </a:extLst>
          </p:cNvPr>
          <p:cNvPicPr>
            <a:picLocks noChangeAspect="1"/>
          </p:cNvPicPr>
          <p:nvPr/>
        </p:nvPicPr>
        <p:blipFill>
          <a:blip r:embed="rId5"/>
          <a:stretch>
            <a:fillRect/>
          </a:stretch>
        </p:blipFill>
        <p:spPr>
          <a:xfrm>
            <a:off x="631156" y="779335"/>
            <a:ext cx="3617322" cy="2583801"/>
          </a:xfrm>
          <a:prstGeom prst="rect">
            <a:avLst/>
          </a:prstGeom>
        </p:spPr>
      </p:pic>
    </p:spTree>
    <p:extLst>
      <p:ext uri="{BB962C8B-B14F-4D97-AF65-F5344CB8AC3E}">
        <p14:creationId xmlns:p14="http://schemas.microsoft.com/office/powerpoint/2010/main" val="2409618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F938767F-4FDC-E729-506C-C3EA16D2D9AC}"/>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82889B4-BBE5-6205-DC42-56B6C213371E}"/>
              </a:ext>
            </a:extLst>
          </p:cNvPr>
          <p:cNvPicPr>
            <a:picLocks noChangeAspect="1"/>
          </p:cNvPicPr>
          <p:nvPr/>
        </p:nvPicPr>
        <p:blipFill>
          <a:blip r:embed="rId3"/>
          <a:stretch>
            <a:fillRect/>
          </a:stretch>
        </p:blipFill>
        <p:spPr>
          <a:xfrm>
            <a:off x="15397" y="0"/>
            <a:ext cx="9113206" cy="5143500"/>
          </a:xfrm>
          <a:prstGeom prst="rect">
            <a:avLst/>
          </a:prstGeom>
        </p:spPr>
      </p:pic>
      <p:sp>
        <p:nvSpPr>
          <p:cNvPr id="12" name="Google Shape;75;p3">
            <a:extLst>
              <a:ext uri="{FF2B5EF4-FFF2-40B4-BE49-F238E27FC236}">
                <a16:creationId xmlns:a16="http://schemas.microsoft.com/office/drawing/2014/main" id="{B45F9910-68F4-6CC5-600B-A8ADFE4A27A5}"/>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Feature Importance</a:t>
            </a:r>
            <a:endParaRPr lang="en-IN" sz="3000" dirty="0">
              <a:latin typeface="Times New Roman" panose="02020603050405020304" pitchFamily="18" charset="0"/>
              <a:ea typeface="Fira Sans"/>
              <a:cs typeface="Times New Roman" panose="02020603050405020304" pitchFamily="18" charset="0"/>
              <a:sym typeface="Fira Sans"/>
            </a:endParaRPr>
          </a:p>
        </p:txBody>
      </p:sp>
      <p:pic>
        <p:nvPicPr>
          <p:cNvPr id="3" name="Picture 2">
            <a:extLst>
              <a:ext uri="{FF2B5EF4-FFF2-40B4-BE49-F238E27FC236}">
                <a16:creationId xmlns:a16="http://schemas.microsoft.com/office/drawing/2014/main" id="{05C89285-5061-9C75-83FD-980F3F9F3A49}"/>
              </a:ext>
            </a:extLst>
          </p:cNvPr>
          <p:cNvPicPr>
            <a:picLocks noChangeAspect="1"/>
          </p:cNvPicPr>
          <p:nvPr/>
        </p:nvPicPr>
        <p:blipFill>
          <a:blip r:embed="rId4"/>
          <a:stretch>
            <a:fillRect/>
          </a:stretch>
        </p:blipFill>
        <p:spPr>
          <a:xfrm>
            <a:off x="335867" y="1249136"/>
            <a:ext cx="4939394" cy="2963636"/>
          </a:xfrm>
          <a:prstGeom prst="rect">
            <a:avLst/>
          </a:prstGeom>
        </p:spPr>
      </p:pic>
      <p:sp>
        <p:nvSpPr>
          <p:cNvPr id="8" name="TextBox 7">
            <a:extLst>
              <a:ext uri="{FF2B5EF4-FFF2-40B4-BE49-F238E27FC236}">
                <a16:creationId xmlns:a16="http://schemas.microsoft.com/office/drawing/2014/main" id="{9307A71A-9833-0284-0D02-A42917A4ED4C}"/>
              </a:ext>
            </a:extLst>
          </p:cNvPr>
          <p:cNvSpPr txBox="1"/>
          <p:nvPr/>
        </p:nvSpPr>
        <p:spPr>
          <a:xfrm>
            <a:off x="4874079" y="837759"/>
            <a:ext cx="4015371" cy="4247317"/>
          </a:xfrm>
          <a:prstGeom prst="rect">
            <a:avLst/>
          </a:prstGeom>
          <a:noFill/>
        </p:spPr>
        <p:txBody>
          <a:bodyPr wrap="square" rtlCol="0">
            <a:spAutoFit/>
          </a:bodyPr>
          <a:lstStyle/>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Observations: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Top Drivers:</a:t>
            </a:r>
            <a:r>
              <a:rPr lang="en-US" altLang="en-US" sz="1500" dirty="0">
                <a:solidFill>
                  <a:schemeClr val="tx1"/>
                </a:solidFill>
                <a:latin typeface="Times New Roman" panose="02020603050405020304" pitchFamily="18" charset="0"/>
                <a:cs typeface="Times New Roman" panose="02020603050405020304" pitchFamily="18" charset="0"/>
              </a:rPr>
              <a:t> Customer lifetime value and campaign response time are the strongest churn predictors, heavily influencing model decisions.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Service Signals:</a:t>
            </a:r>
            <a:r>
              <a:rPr lang="en-US" altLang="en-US" sz="1500" dirty="0">
                <a:solidFill>
                  <a:schemeClr val="tx1"/>
                </a:solidFill>
                <a:latin typeface="Times New Roman" panose="02020603050405020304" pitchFamily="18" charset="0"/>
                <a:cs typeface="Times New Roman" panose="02020603050405020304" pitchFamily="18" charset="0"/>
              </a:rPr>
              <a:t> Service requests and relationship manager interactions are key mid-level factors linked to retention behavior.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Behavior Patterns:</a:t>
            </a:r>
            <a:r>
              <a:rPr lang="en-US" altLang="en-US" sz="1500" dirty="0">
                <a:solidFill>
                  <a:schemeClr val="tx1"/>
                </a:solidFill>
                <a:latin typeface="Times New Roman" panose="02020603050405020304" pitchFamily="18" charset="0"/>
                <a:cs typeface="Times New Roman" panose="02020603050405020304" pitchFamily="18" charset="0"/>
              </a:rPr>
              <a:t> Transaction activity (branch visits, withdrawals, monthly usage) contributes but has lower predictive power.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Sentiment &amp; Offers:</a:t>
            </a:r>
            <a:r>
              <a:rPr lang="en-US" altLang="en-US" sz="1500" dirty="0">
                <a:solidFill>
                  <a:schemeClr val="tx1"/>
                </a:solidFill>
                <a:latin typeface="Times New Roman" panose="02020603050405020304" pitchFamily="18" charset="0"/>
                <a:cs typeface="Times New Roman" panose="02020603050405020304" pitchFamily="18" charset="0"/>
              </a:rPr>
              <a:t> Customer feedback and campaign exposure have minimal impact but slightly improve model accuracy. </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b="1" dirty="0">
                <a:solidFill>
                  <a:schemeClr val="tx1"/>
                </a:solidFill>
                <a:latin typeface="Times New Roman" panose="02020603050405020304" pitchFamily="18" charset="0"/>
                <a:cs typeface="Times New Roman" panose="02020603050405020304" pitchFamily="18" charset="0"/>
              </a:rPr>
              <a:t>Conclusion:</a:t>
            </a:r>
            <a:r>
              <a:rPr lang="en-US" altLang="en-US" sz="1500" dirty="0">
                <a:solidFill>
                  <a:schemeClr val="tx1"/>
                </a:solidFill>
                <a:latin typeface="Times New Roman" panose="02020603050405020304" pitchFamily="18" charset="0"/>
                <a:cs typeface="Times New Roman" panose="02020603050405020304" pitchFamily="18" charset="0"/>
              </a:rPr>
              <a:t> Churn is mainly driven by value and engagement timing, while other features act as supporting signals. </a:t>
            </a:r>
          </a:p>
          <a:p>
            <a:pPr lvl="0" algn="just" eaLnBrk="0" fontAlgn="base" hangingPunct="0">
              <a:spcBef>
                <a:spcPct val="0"/>
              </a:spcBef>
              <a:spcAft>
                <a:spcPct val="0"/>
              </a:spcAft>
              <a:buClrTx/>
            </a:pPr>
            <a:endParaRPr lang="en-US" altLang="en-US" sz="1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6663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6596F004-8228-CA4C-70A0-25FAD52EEB2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DF52C8-92A4-802A-7683-A7722D61B689}"/>
              </a:ext>
            </a:extLst>
          </p:cNvPr>
          <p:cNvPicPr>
            <a:picLocks noChangeAspect="1"/>
          </p:cNvPicPr>
          <p:nvPr/>
        </p:nvPicPr>
        <p:blipFill>
          <a:blip r:embed="rId3"/>
          <a:stretch>
            <a:fillRect/>
          </a:stretch>
        </p:blipFill>
        <p:spPr>
          <a:xfrm>
            <a:off x="15397" y="0"/>
            <a:ext cx="9113206" cy="5151664"/>
          </a:xfrm>
          <a:prstGeom prst="rect">
            <a:avLst/>
          </a:prstGeom>
        </p:spPr>
      </p:pic>
      <p:sp>
        <p:nvSpPr>
          <p:cNvPr id="12" name="Google Shape;75;p3">
            <a:extLst>
              <a:ext uri="{FF2B5EF4-FFF2-40B4-BE49-F238E27FC236}">
                <a16:creationId xmlns:a16="http://schemas.microsoft.com/office/drawing/2014/main" id="{18126D07-3689-53F9-EDE0-1E915942A86F}"/>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Business Cost Analysis</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BCE7C982-7085-FC92-7156-5759A63524A2}"/>
              </a:ext>
            </a:extLst>
          </p:cNvPr>
          <p:cNvSpPr txBox="1"/>
          <p:nvPr/>
        </p:nvSpPr>
        <p:spPr>
          <a:xfrm>
            <a:off x="343629" y="863231"/>
            <a:ext cx="8456742" cy="4016484"/>
          </a:xfrm>
          <a:prstGeom prst="rect">
            <a:avLst/>
          </a:prstGeom>
          <a:noFill/>
        </p:spPr>
        <p:txBody>
          <a:bodyPr wrap="square">
            <a:spAutoFit/>
          </a:bodyPr>
          <a:lstStyle/>
          <a:p>
            <a:pPr algn="just"/>
            <a:r>
              <a:rPr lang="en-US" sz="1500" b="1" dirty="0">
                <a:latin typeface="Times New Roman" panose="02020603050405020304" pitchFamily="18" charset="0"/>
                <a:cs typeface="Times New Roman" panose="02020603050405020304" pitchFamily="18" charset="0"/>
              </a:rPr>
              <a:t>Cost Assumptions:</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False Negative (FN): ₹40,000 loss per churned customer missed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False Positive (FP): ₹500 cost per unnecessary retention action </a:t>
            </a:r>
          </a:p>
          <a:p>
            <a:pPr marL="285750" indent="-285750" algn="just">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Model Outcome:</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False Negatives = </a:t>
            </a:r>
            <a:r>
              <a:rPr lang="en-US" sz="1500" b="1" dirty="0">
                <a:latin typeface="Times New Roman" panose="02020603050405020304" pitchFamily="18" charset="0"/>
                <a:cs typeface="Times New Roman" panose="02020603050405020304" pitchFamily="18" charset="0"/>
              </a:rPr>
              <a:t>4 customers → ₹1,60,000 loss</a:t>
            </a:r>
            <a:r>
              <a:rPr lang="en-US" sz="15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False Positives = </a:t>
            </a:r>
            <a:r>
              <a:rPr lang="en-US" sz="1500" b="1" dirty="0">
                <a:latin typeface="Times New Roman" panose="02020603050405020304" pitchFamily="18" charset="0"/>
                <a:cs typeface="Times New Roman" panose="02020603050405020304" pitchFamily="18" charset="0"/>
              </a:rPr>
              <a:t>0 customers → ₹0 waste cost</a:t>
            </a:r>
            <a:r>
              <a:rPr lang="en-US" sz="15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Business Insight:</a:t>
            </a:r>
          </a:p>
          <a:p>
            <a:pPr algn="just"/>
            <a:r>
              <a:rPr lang="en-US" sz="1500" dirty="0">
                <a:latin typeface="Times New Roman" panose="02020603050405020304" pitchFamily="18" charset="0"/>
                <a:cs typeface="Times New Roman" panose="02020603050405020304" pitchFamily="18" charset="0"/>
              </a:rPr>
              <a:t>The model strongly minimizes false negatives, meaning it successfully captures almost all customers who are about to churn. This is critical because missing a churned customer results in significantly higher financial loss compared to wrongly targeting a retained customer.</a:t>
            </a:r>
          </a:p>
          <a:p>
            <a:pPr algn="just"/>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Why Recall is Prioritized:</a:t>
            </a:r>
          </a:p>
          <a:p>
            <a:pPr algn="just"/>
            <a:r>
              <a:rPr lang="en-US" sz="1500" dirty="0">
                <a:latin typeface="Times New Roman" panose="02020603050405020304" pitchFamily="18" charset="0"/>
                <a:cs typeface="Times New Roman" panose="02020603050405020304" pitchFamily="18" charset="0"/>
              </a:rPr>
              <a:t>Since the cost of losing a customer (₹40,000) is far higher than retention effort cost (₹500), </a:t>
            </a:r>
            <a:r>
              <a:rPr lang="en-US" sz="1500" b="1" dirty="0">
                <a:latin typeface="Times New Roman" panose="02020603050405020304" pitchFamily="18" charset="0"/>
                <a:cs typeface="Times New Roman" panose="02020603050405020304" pitchFamily="18" charset="0"/>
              </a:rPr>
              <a:t>Recall is the most important metric</a:t>
            </a:r>
            <a:r>
              <a:rPr lang="en-US" sz="1500" dirty="0">
                <a:latin typeface="Times New Roman" panose="02020603050405020304" pitchFamily="18" charset="0"/>
                <a:cs typeface="Times New Roman" panose="02020603050405020304" pitchFamily="18" charset="0"/>
              </a:rPr>
              <a:t>. The model is optimized to identify as many churned customers as possible, even if it slightly increases false alarms.</a:t>
            </a:r>
          </a:p>
        </p:txBody>
      </p:sp>
    </p:spTree>
    <p:extLst>
      <p:ext uri="{BB962C8B-B14F-4D97-AF65-F5344CB8AC3E}">
        <p14:creationId xmlns:p14="http://schemas.microsoft.com/office/powerpoint/2010/main" val="28861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1C4806EF-DB59-6FC7-81C7-44B967A0F48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68B57FF-A889-2143-0032-65A399256BF9}"/>
              </a:ext>
            </a:extLst>
          </p:cNvPr>
          <p:cNvPicPr>
            <a:picLocks noChangeAspect="1"/>
          </p:cNvPicPr>
          <p:nvPr/>
        </p:nvPicPr>
        <p:blipFill>
          <a:blip r:embed="rId3"/>
          <a:stretch>
            <a:fillRect/>
          </a:stretch>
        </p:blipFill>
        <p:spPr>
          <a:xfrm>
            <a:off x="15397" y="0"/>
            <a:ext cx="9113206" cy="5151664"/>
          </a:xfrm>
          <a:prstGeom prst="rect">
            <a:avLst/>
          </a:prstGeom>
        </p:spPr>
      </p:pic>
      <p:sp>
        <p:nvSpPr>
          <p:cNvPr id="12" name="Google Shape;75;p3">
            <a:extLst>
              <a:ext uri="{FF2B5EF4-FFF2-40B4-BE49-F238E27FC236}">
                <a16:creationId xmlns:a16="http://schemas.microsoft.com/office/drawing/2014/main" id="{3B73F205-2047-8D6E-0B91-A61FC242C12D}"/>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Predictions Output and Recommendations</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4792C436-80F1-A7EF-3556-9067E4BD1043}"/>
              </a:ext>
            </a:extLst>
          </p:cNvPr>
          <p:cNvSpPr txBox="1"/>
          <p:nvPr/>
        </p:nvSpPr>
        <p:spPr>
          <a:xfrm>
            <a:off x="311700" y="904330"/>
            <a:ext cx="3877307" cy="4016484"/>
          </a:xfrm>
          <a:prstGeom prst="rect">
            <a:avLst/>
          </a:prstGeom>
          <a:noFill/>
        </p:spPr>
        <p:txBody>
          <a:bodyPr wrap="square">
            <a:spAutoFit/>
          </a:bodyPr>
          <a:lstStyle/>
          <a:p>
            <a:pPr algn="just"/>
            <a:r>
              <a:rPr lang="en-US" sz="1500" b="1" dirty="0">
                <a:latin typeface="Times New Roman" panose="02020603050405020304" pitchFamily="18" charset="0"/>
                <a:cs typeface="Times New Roman" panose="02020603050405020304" pitchFamily="18" charset="0"/>
              </a:rPr>
              <a:t>Generated Output Includes:</a:t>
            </a:r>
          </a:p>
          <a:p>
            <a:pPr marL="285750" indent="-285750" algn="just">
              <a:buFont typeface="Arial" panose="020B0604020202020204" pitchFamily="34" charset="0"/>
              <a:buChar char="•"/>
            </a:pPr>
            <a:r>
              <a:rPr lang="en-US" sz="1500" dirty="0" err="1">
                <a:latin typeface="Times New Roman" panose="02020603050405020304" pitchFamily="18" charset="0"/>
                <a:cs typeface="Times New Roman" panose="02020603050405020304" pitchFamily="18" charset="0"/>
              </a:rPr>
              <a:t>customer_id</a:t>
            </a:r>
            <a:r>
              <a:rPr lang="en-US" sz="15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500" dirty="0" err="1">
                <a:latin typeface="Times New Roman" panose="02020603050405020304" pitchFamily="18" charset="0"/>
                <a:cs typeface="Times New Roman" panose="02020603050405020304" pitchFamily="18" charset="0"/>
              </a:rPr>
              <a:t>churn_prediction</a:t>
            </a:r>
            <a:r>
              <a:rPr lang="en-US" sz="1500" dirty="0">
                <a:latin typeface="Times New Roman" panose="02020603050405020304" pitchFamily="18" charset="0"/>
                <a:cs typeface="Times New Roman" panose="02020603050405020304" pitchFamily="18" charset="0"/>
              </a:rPr>
              <a:t> (0/1) </a:t>
            </a:r>
          </a:p>
          <a:p>
            <a:pPr marL="285750" indent="-285750" algn="just">
              <a:buFont typeface="Arial" panose="020B0604020202020204" pitchFamily="34" charset="0"/>
              <a:buChar char="•"/>
            </a:pPr>
            <a:r>
              <a:rPr lang="en-US" sz="1500" dirty="0" err="1">
                <a:latin typeface="Times New Roman" panose="02020603050405020304" pitchFamily="18" charset="0"/>
                <a:cs typeface="Times New Roman" panose="02020603050405020304" pitchFamily="18" charset="0"/>
              </a:rPr>
              <a:t>churn_probability</a:t>
            </a:r>
            <a:r>
              <a:rPr lang="en-US" sz="15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Key Result:</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Total </a:t>
            </a:r>
            <a:r>
              <a:rPr lang="en-US" sz="1500" b="1" dirty="0">
                <a:latin typeface="Times New Roman" panose="02020603050405020304" pitchFamily="18" charset="0"/>
                <a:cs typeface="Times New Roman" panose="02020603050405020304" pitchFamily="18" charset="0"/>
              </a:rPr>
              <a:t>2026 customer predictions generated</a:t>
            </a:r>
            <a:r>
              <a:rPr lang="en-US" sz="1500" dirty="0">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Each customer is assigned a churn probability score for risk-based classification </a:t>
            </a:r>
          </a:p>
          <a:p>
            <a:pPr marL="285750" indent="-285750" algn="just">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algn="just"/>
            <a:r>
              <a:rPr lang="en-US" sz="1500" b="1" dirty="0">
                <a:latin typeface="Times New Roman" panose="02020603050405020304" pitchFamily="18" charset="0"/>
                <a:cs typeface="Times New Roman" panose="02020603050405020304" pitchFamily="18" charset="0"/>
              </a:rPr>
              <a:t>Business Value:</a:t>
            </a:r>
          </a:p>
          <a:p>
            <a:pPr algn="just"/>
            <a:r>
              <a:rPr lang="en-US" sz="1500" dirty="0">
                <a:latin typeface="Times New Roman" panose="02020603050405020304" pitchFamily="18" charset="0"/>
                <a:cs typeface="Times New Roman" panose="02020603050405020304" pitchFamily="18" charset="0"/>
              </a:rPr>
              <a:t>This output allows the bank to prioritize customers based on churn risk and take proactive retention actions before actual loss occurs.</a:t>
            </a:r>
          </a:p>
        </p:txBody>
      </p:sp>
      <p:sp>
        <p:nvSpPr>
          <p:cNvPr id="3" name="TextBox 2">
            <a:extLst>
              <a:ext uri="{FF2B5EF4-FFF2-40B4-BE49-F238E27FC236}">
                <a16:creationId xmlns:a16="http://schemas.microsoft.com/office/drawing/2014/main" id="{6599A94C-CCB4-4DFC-1759-36F6150DCFCE}"/>
              </a:ext>
            </a:extLst>
          </p:cNvPr>
          <p:cNvSpPr txBox="1"/>
          <p:nvPr/>
        </p:nvSpPr>
        <p:spPr>
          <a:xfrm>
            <a:off x="4954995" y="886093"/>
            <a:ext cx="3753180" cy="3554819"/>
          </a:xfrm>
          <a:prstGeom prst="rect">
            <a:avLst/>
          </a:prstGeom>
          <a:noFill/>
        </p:spPr>
        <p:txBody>
          <a:bodyPr wrap="square">
            <a:spAutoFit/>
          </a:bodyPr>
          <a:lstStyle/>
          <a:p>
            <a:pPr algn="just">
              <a:buNone/>
            </a:pPr>
            <a:r>
              <a:rPr lang="en-US" sz="1500" b="1" dirty="0">
                <a:latin typeface="Times New Roman" panose="02020603050405020304" pitchFamily="18" charset="0"/>
                <a:cs typeface="Times New Roman" panose="02020603050405020304" pitchFamily="18" charset="0"/>
              </a:rPr>
              <a:t>Key Business Actions:</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Focus on </a:t>
            </a:r>
            <a:r>
              <a:rPr lang="en-US" sz="1500" b="1" dirty="0">
                <a:latin typeface="Times New Roman" panose="02020603050405020304" pitchFamily="18" charset="0"/>
                <a:cs typeface="Times New Roman" panose="02020603050405020304" pitchFamily="18" charset="0"/>
              </a:rPr>
              <a:t>inactive and low-engagement customers</a:t>
            </a:r>
            <a:r>
              <a:rPr lang="en-US" sz="1500" dirty="0">
                <a:latin typeface="Times New Roman" panose="02020603050405020304" pitchFamily="18" charset="0"/>
                <a:cs typeface="Times New Roman" panose="02020603050405020304" pitchFamily="18" charset="0"/>
              </a:rPr>
              <a:t> as they show highest churn risk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Improve </a:t>
            </a:r>
            <a:r>
              <a:rPr lang="en-US" sz="1500" b="1" dirty="0">
                <a:latin typeface="Times New Roman" panose="02020603050405020304" pitchFamily="18" charset="0"/>
                <a:cs typeface="Times New Roman" panose="02020603050405020304" pitchFamily="18" charset="0"/>
              </a:rPr>
              <a:t>digital engagement</a:t>
            </a:r>
            <a:endParaRPr lang="en-US" sz="15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Launch </a:t>
            </a:r>
            <a:r>
              <a:rPr lang="en-US" sz="1500" b="1" dirty="0">
                <a:latin typeface="Times New Roman" panose="02020603050405020304" pitchFamily="18" charset="0"/>
                <a:cs typeface="Times New Roman" panose="02020603050405020304" pitchFamily="18" charset="0"/>
              </a:rPr>
              <a:t>personalized retention campaigns</a:t>
            </a:r>
            <a:r>
              <a:rPr lang="en-US" sz="1500" dirty="0">
                <a:latin typeface="Times New Roman" panose="02020603050405020304" pitchFamily="18" charset="0"/>
                <a:cs typeface="Times New Roman" panose="02020603050405020304" pitchFamily="18" charset="0"/>
              </a:rPr>
              <a:t> for high-risk users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Monitor </a:t>
            </a:r>
            <a:r>
              <a:rPr lang="en-US" sz="1500" b="1" dirty="0">
                <a:latin typeface="Times New Roman" panose="02020603050405020304" pitchFamily="18" charset="0"/>
                <a:cs typeface="Times New Roman" panose="02020603050405020304" pitchFamily="18" charset="0"/>
              </a:rPr>
              <a:t>declining balances and reduced transactions</a:t>
            </a:r>
            <a:r>
              <a:rPr lang="en-US" sz="1500" dirty="0">
                <a:latin typeface="Times New Roman" panose="02020603050405020304" pitchFamily="18" charset="0"/>
                <a:cs typeface="Times New Roman" panose="02020603050405020304" pitchFamily="18" charset="0"/>
              </a:rPr>
              <a:t> as early warning signals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Address </a:t>
            </a:r>
            <a:r>
              <a:rPr lang="en-US" sz="1500" b="1" dirty="0">
                <a:latin typeface="Times New Roman" panose="02020603050405020304" pitchFamily="18" charset="0"/>
                <a:cs typeface="Times New Roman" panose="02020603050405020304" pitchFamily="18" charset="0"/>
              </a:rPr>
              <a:t>customer complaints quickly</a:t>
            </a:r>
            <a:r>
              <a:rPr lang="en-US" sz="1500" dirty="0">
                <a:latin typeface="Times New Roman" panose="02020603050405020304" pitchFamily="18" charset="0"/>
                <a:cs typeface="Times New Roman" panose="02020603050405020304" pitchFamily="18" charset="0"/>
              </a:rPr>
              <a:t> to reduce dissatisfaction-driven churn </a:t>
            </a:r>
          </a:p>
          <a:p>
            <a:pPr marL="285750" indent="-285750" algn="just">
              <a:buFont typeface="Arial" panose="020B0604020202020204" pitchFamily="34" charset="0"/>
              <a:buChar char="•"/>
            </a:pPr>
            <a:endParaRPr lang="en-US" sz="1500" dirty="0">
              <a:latin typeface="Times New Roman" panose="02020603050405020304" pitchFamily="18" charset="0"/>
              <a:cs typeface="Times New Roman" panose="02020603050405020304" pitchFamily="18" charset="0"/>
            </a:endParaRPr>
          </a:p>
          <a:p>
            <a:pPr algn="just">
              <a:buNone/>
            </a:pPr>
            <a:r>
              <a:rPr lang="en-US" sz="1500" b="1" dirty="0">
                <a:latin typeface="Times New Roman" panose="02020603050405020304" pitchFamily="18" charset="0"/>
                <a:cs typeface="Times New Roman" panose="02020603050405020304" pitchFamily="18" charset="0"/>
              </a:rPr>
              <a:t>Business Impact:</a:t>
            </a:r>
          </a:p>
          <a:p>
            <a:pPr algn="just">
              <a:buNone/>
            </a:pPr>
            <a:r>
              <a:rPr lang="en-US" sz="1500" dirty="0">
                <a:latin typeface="Times New Roman" panose="02020603050405020304" pitchFamily="18" charset="0"/>
                <a:cs typeface="Times New Roman" panose="02020603050405020304" pitchFamily="18" charset="0"/>
              </a:rPr>
              <a:t>These strategies help reduce churn rate, improve customer satisfaction, and increase long-term revenue retention.</a:t>
            </a:r>
          </a:p>
        </p:txBody>
      </p:sp>
    </p:spTree>
    <p:extLst>
      <p:ext uri="{BB962C8B-B14F-4D97-AF65-F5344CB8AC3E}">
        <p14:creationId xmlns:p14="http://schemas.microsoft.com/office/powerpoint/2010/main" val="261541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87289933-D53E-6AE3-8B9A-37B14FDDF96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4893EA-F8EC-27D4-491F-CFC0AC5C8CC2}"/>
              </a:ext>
            </a:extLst>
          </p:cNvPr>
          <p:cNvPicPr>
            <a:picLocks noChangeAspect="1"/>
          </p:cNvPicPr>
          <p:nvPr/>
        </p:nvPicPr>
        <p:blipFill>
          <a:blip r:embed="rId3"/>
          <a:stretch>
            <a:fillRect/>
          </a:stretch>
        </p:blipFill>
        <p:spPr>
          <a:xfrm>
            <a:off x="15397" y="0"/>
            <a:ext cx="9113206" cy="5151664"/>
          </a:xfrm>
          <a:prstGeom prst="rect">
            <a:avLst/>
          </a:prstGeom>
        </p:spPr>
      </p:pic>
      <p:sp>
        <p:nvSpPr>
          <p:cNvPr id="12" name="Google Shape;75;p3">
            <a:extLst>
              <a:ext uri="{FF2B5EF4-FFF2-40B4-BE49-F238E27FC236}">
                <a16:creationId xmlns:a16="http://schemas.microsoft.com/office/drawing/2014/main" id="{590E32B9-BD20-93D4-363E-9E8A1FE358E1}"/>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Code Reproducibility</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B91FECC5-3992-6E6A-3697-8FCAB51EB3BE}"/>
              </a:ext>
            </a:extLst>
          </p:cNvPr>
          <p:cNvSpPr txBox="1"/>
          <p:nvPr/>
        </p:nvSpPr>
        <p:spPr>
          <a:xfrm>
            <a:off x="311699" y="830853"/>
            <a:ext cx="8456743" cy="4016484"/>
          </a:xfrm>
          <a:prstGeom prst="rect">
            <a:avLst/>
          </a:prstGeom>
          <a:noFill/>
        </p:spPr>
        <p:txBody>
          <a:bodyPr wrap="square">
            <a:spAutoFit/>
          </a:bodyPr>
          <a:lstStyle/>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Reproducibility Measures: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Fixed </a:t>
            </a:r>
            <a:r>
              <a:rPr lang="en-US" altLang="en-US" sz="1500" dirty="0" err="1">
                <a:solidFill>
                  <a:schemeClr val="tx1"/>
                </a:solidFill>
                <a:latin typeface="Times New Roman" panose="02020603050405020304" pitchFamily="18" charset="0"/>
                <a:cs typeface="Times New Roman" panose="02020603050405020304" pitchFamily="18" charset="0"/>
              </a:rPr>
              <a:t>random_state</a:t>
            </a:r>
            <a:r>
              <a:rPr lang="en-US" altLang="en-US" sz="1500" dirty="0">
                <a:solidFill>
                  <a:schemeClr val="tx1"/>
                </a:solidFill>
                <a:latin typeface="Times New Roman" panose="02020603050405020304" pitchFamily="18" charset="0"/>
                <a:cs typeface="Times New Roman" panose="02020603050405020304" pitchFamily="18" charset="0"/>
              </a:rPr>
              <a:t>=42 used across train-test split and machine learning models to ensure consistent results.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Standardized preprocessing pipeline applied uniformly for training and prediction datasets.</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Feature engineering and encoding steps were automated to maintain identical transformations every run.</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Processed datasets, trained models, metrics, and prediction outputs were saved for reproducibility and future evaluation.</a:t>
            </a: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Separate folders (graphs/, models/, outputs/) were maintained for organized project structure.</a:t>
            </a:r>
          </a:p>
          <a:p>
            <a:pPr marL="285750" lvl="0" indent="-285750" algn="just" eaLnBrk="0" fontAlgn="base" hangingPunct="0">
              <a:spcBef>
                <a:spcPct val="0"/>
              </a:spcBef>
              <a:spcAft>
                <a:spcPct val="0"/>
              </a:spcAft>
              <a:buClrTx/>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All critical artifacts including trained models, scalers, processed datasets, evaluation metrics, graphs, prediction outputs, and business reports were saved for verification and future deployment.</a:t>
            </a:r>
            <a:endParaRPr lang="en-US" altLang="en-US" sz="1500" dirty="0">
              <a:solidFill>
                <a:schemeClr val="tx1"/>
              </a:solidFill>
              <a:latin typeface="Times New Roman" panose="02020603050405020304" pitchFamily="18" charset="0"/>
              <a:cs typeface="Times New Roman" panose="02020603050405020304" pitchFamily="18" charset="0"/>
            </a:endParaRPr>
          </a:p>
          <a:p>
            <a:pPr marL="285750" lvl="0" indent="-285750" algn="just" eaLnBrk="0" fontAlgn="base" hangingPunct="0">
              <a:spcBef>
                <a:spcPct val="0"/>
              </a:spcBef>
              <a:spcAft>
                <a:spcPct val="0"/>
              </a:spcAft>
              <a:buClrTx/>
              <a:buFont typeface="Arial" panose="020B0604020202020204" pitchFamily="34" charset="0"/>
              <a:buChar char="•"/>
            </a:pPr>
            <a:r>
              <a:rPr lang="en-US" altLang="en-US" sz="1500" dirty="0">
                <a:solidFill>
                  <a:schemeClr val="tx1"/>
                </a:solidFill>
                <a:latin typeface="Times New Roman" panose="02020603050405020304" pitchFamily="18" charset="0"/>
                <a:cs typeface="Times New Roman" panose="02020603050405020304" pitchFamily="18" charset="0"/>
              </a:rPr>
              <a:t>Model performance reports and prediction CSV files allow easy verification and regeneration of results.</a:t>
            </a:r>
          </a:p>
          <a:p>
            <a:pPr marL="285750" lvl="0" indent="-285750" algn="just" eaLnBrk="0" fontAlgn="base" hangingPunct="0">
              <a:spcBef>
                <a:spcPct val="0"/>
              </a:spcBef>
              <a:spcAft>
                <a:spcPct val="0"/>
              </a:spcAft>
              <a:buClrTx/>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End-to-end automation enabled seamless regeneration of results, visualizations, and prediction reports without manual intervention.</a:t>
            </a:r>
            <a:endParaRPr lang="en-US" altLang="en-US" sz="15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endParaRPr lang="en-US" altLang="en-US" sz="1500" b="1"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500" b="1" dirty="0">
                <a:solidFill>
                  <a:schemeClr val="tx1"/>
                </a:solidFill>
                <a:latin typeface="Times New Roman" panose="02020603050405020304" pitchFamily="18" charset="0"/>
                <a:cs typeface="Times New Roman" panose="02020603050405020304" pitchFamily="18" charset="0"/>
              </a:rPr>
              <a:t>Outcome:</a:t>
            </a:r>
          </a:p>
          <a:p>
            <a:pPr lvl="0" algn="just" eaLnBrk="0" fontAlgn="base" hangingPunct="0">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The project pipeline is fully reproducible, structured, and deployment-ready, ensuring reliable experimentation and consistent model behavior across executions.</a:t>
            </a:r>
          </a:p>
        </p:txBody>
      </p:sp>
    </p:spTree>
    <p:extLst>
      <p:ext uri="{BB962C8B-B14F-4D97-AF65-F5344CB8AC3E}">
        <p14:creationId xmlns:p14="http://schemas.microsoft.com/office/powerpoint/2010/main" val="2960112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06778D57-87A2-5C18-7D70-1F500EAF861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8837A60-37DE-13A3-62AF-87D21AF06C5E}"/>
              </a:ext>
            </a:extLst>
          </p:cNvPr>
          <p:cNvPicPr>
            <a:picLocks noChangeAspect="1"/>
          </p:cNvPicPr>
          <p:nvPr/>
        </p:nvPicPr>
        <p:blipFill>
          <a:blip r:embed="rId3"/>
          <a:stretch>
            <a:fillRect/>
          </a:stretch>
        </p:blipFill>
        <p:spPr>
          <a:xfrm>
            <a:off x="15397" y="0"/>
            <a:ext cx="9113206" cy="5143500"/>
          </a:xfrm>
          <a:prstGeom prst="rect">
            <a:avLst/>
          </a:prstGeom>
        </p:spPr>
      </p:pic>
      <p:sp>
        <p:nvSpPr>
          <p:cNvPr id="12" name="Google Shape;75;p3">
            <a:extLst>
              <a:ext uri="{FF2B5EF4-FFF2-40B4-BE49-F238E27FC236}">
                <a16:creationId xmlns:a16="http://schemas.microsoft.com/office/drawing/2014/main" id="{41271D0A-E289-E435-52EE-451B765682B4}"/>
              </a:ext>
            </a:extLst>
          </p:cNvPr>
          <p:cNvSpPr txBox="1">
            <a:spLocks/>
          </p:cNvSpPr>
          <p:nvPr/>
        </p:nvSpPr>
        <p:spPr>
          <a:xfrm>
            <a:off x="311700" y="2066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SzPct val="111111"/>
            </a:pPr>
            <a:r>
              <a:rPr lang="en" sz="3000" dirty="0">
                <a:latin typeface="Times New Roman" panose="02020603050405020304" pitchFamily="18" charset="0"/>
                <a:ea typeface="Fira Sans"/>
                <a:cs typeface="Times New Roman" panose="02020603050405020304" pitchFamily="18" charset="0"/>
                <a:sym typeface="Fira Sans"/>
              </a:rPr>
              <a:t>Conclusion and Future Insights</a:t>
            </a:r>
            <a:endParaRPr lang="en-IN" sz="3000" dirty="0">
              <a:latin typeface="Times New Roman" panose="02020603050405020304" pitchFamily="18" charset="0"/>
              <a:ea typeface="Fira Sans"/>
              <a:cs typeface="Times New Roman" panose="02020603050405020304" pitchFamily="18" charset="0"/>
              <a:sym typeface="Fira Sans"/>
            </a:endParaRPr>
          </a:p>
        </p:txBody>
      </p:sp>
      <p:sp>
        <p:nvSpPr>
          <p:cNvPr id="7" name="TextBox 6">
            <a:extLst>
              <a:ext uri="{FF2B5EF4-FFF2-40B4-BE49-F238E27FC236}">
                <a16:creationId xmlns:a16="http://schemas.microsoft.com/office/drawing/2014/main" id="{17F50256-B2C7-CFD7-69AE-14603C125281}"/>
              </a:ext>
            </a:extLst>
          </p:cNvPr>
          <p:cNvSpPr txBox="1"/>
          <p:nvPr/>
        </p:nvSpPr>
        <p:spPr>
          <a:xfrm>
            <a:off x="341586" y="779335"/>
            <a:ext cx="8460826" cy="1708160"/>
          </a:xfrm>
          <a:prstGeom prst="rect">
            <a:avLst/>
          </a:prstGeom>
          <a:noFill/>
        </p:spPr>
        <p:txBody>
          <a:bodyPr wrap="square">
            <a:spAutoFit/>
          </a:bodyPr>
          <a:lstStyle/>
          <a:p>
            <a:pPr algn="just"/>
            <a:r>
              <a:rPr lang="en-US" sz="1500" b="1" u="sng" dirty="0">
                <a:latin typeface="Times New Roman" panose="02020603050405020304" pitchFamily="18" charset="0"/>
                <a:cs typeface="Times New Roman" panose="02020603050405020304" pitchFamily="18" charset="0"/>
              </a:rPr>
              <a:t>Future Insights:</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Apply </a:t>
            </a:r>
            <a:r>
              <a:rPr lang="en-US" sz="1500" b="1" dirty="0">
                <a:latin typeface="Times New Roman" panose="02020603050405020304" pitchFamily="18" charset="0"/>
                <a:cs typeface="Times New Roman" panose="02020603050405020304" pitchFamily="18" charset="0"/>
              </a:rPr>
              <a:t>Deep Learning models</a:t>
            </a:r>
            <a:r>
              <a:rPr lang="en-US" sz="1500" dirty="0">
                <a:latin typeface="Times New Roman" panose="02020603050405020304" pitchFamily="18" charset="0"/>
                <a:cs typeface="Times New Roman" panose="02020603050405020304" pitchFamily="18" charset="0"/>
              </a:rPr>
              <a:t> for capturing complex behavioral patterns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Enable </a:t>
            </a:r>
            <a:r>
              <a:rPr lang="en-US" sz="1500" b="1" dirty="0">
                <a:latin typeface="Times New Roman" panose="02020603050405020304" pitchFamily="18" charset="0"/>
                <a:cs typeface="Times New Roman" panose="02020603050405020304" pitchFamily="18" charset="0"/>
              </a:rPr>
              <a:t>Real-time churn prediction system</a:t>
            </a:r>
            <a:r>
              <a:rPr lang="en-US" sz="1500" dirty="0">
                <a:latin typeface="Times New Roman" panose="02020603050405020304" pitchFamily="18" charset="0"/>
                <a:cs typeface="Times New Roman" panose="02020603050405020304" pitchFamily="18" charset="0"/>
              </a:rPr>
              <a:t> integrated with banking platforms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Implement </a:t>
            </a:r>
            <a:r>
              <a:rPr lang="en-US" sz="1500" b="1" dirty="0">
                <a:latin typeface="Times New Roman" panose="02020603050405020304" pitchFamily="18" charset="0"/>
                <a:cs typeface="Times New Roman" panose="02020603050405020304" pitchFamily="18" charset="0"/>
              </a:rPr>
              <a:t>Explainable AI (XAI)</a:t>
            </a:r>
            <a:r>
              <a:rPr lang="en-US" sz="1500" dirty="0">
                <a:latin typeface="Times New Roman" panose="02020603050405020304" pitchFamily="18" charset="0"/>
                <a:cs typeface="Times New Roman" panose="02020603050405020304" pitchFamily="18" charset="0"/>
              </a:rPr>
              <a:t> to improve interpretability for business stakeholders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Introduce </a:t>
            </a:r>
            <a:r>
              <a:rPr lang="en-US" sz="1500" b="1" dirty="0">
                <a:latin typeface="Times New Roman" panose="02020603050405020304" pitchFamily="18" charset="0"/>
                <a:cs typeface="Times New Roman" panose="02020603050405020304" pitchFamily="18" charset="0"/>
              </a:rPr>
              <a:t>time-series behavior tracking</a:t>
            </a:r>
            <a:r>
              <a:rPr lang="en-US" sz="1500" dirty="0">
                <a:latin typeface="Times New Roman" panose="02020603050405020304" pitchFamily="18" charset="0"/>
                <a:cs typeface="Times New Roman" panose="02020603050405020304" pitchFamily="18" charset="0"/>
              </a:rPr>
              <a:t> for early churn detection </a:t>
            </a:r>
          </a:p>
          <a:p>
            <a:pPr marL="285750" indent="-285750" algn="jus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Move from static batch prediction to a </a:t>
            </a:r>
            <a:r>
              <a:rPr lang="en-US" sz="1500" b="1" dirty="0">
                <a:latin typeface="Times New Roman" panose="02020603050405020304" pitchFamily="18" charset="0"/>
                <a:cs typeface="Times New Roman" panose="02020603050405020304" pitchFamily="18" charset="0"/>
              </a:rPr>
              <a:t>real-time intelligent retention system</a:t>
            </a:r>
            <a:r>
              <a:rPr lang="en-US" sz="1500" dirty="0">
                <a:latin typeface="Times New Roman" panose="02020603050405020304" pitchFamily="18" charset="0"/>
                <a:cs typeface="Times New Roman" panose="02020603050405020304" pitchFamily="18" charset="0"/>
              </a:rPr>
              <a:t> that proactively identifies and prevents churn before it happens.</a:t>
            </a:r>
          </a:p>
        </p:txBody>
      </p:sp>
      <p:sp>
        <p:nvSpPr>
          <p:cNvPr id="5" name="TextBox 4">
            <a:extLst>
              <a:ext uri="{FF2B5EF4-FFF2-40B4-BE49-F238E27FC236}">
                <a16:creationId xmlns:a16="http://schemas.microsoft.com/office/drawing/2014/main" id="{49A38542-905E-4962-3E5A-D29F1DAE0E57}"/>
              </a:ext>
            </a:extLst>
          </p:cNvPr>
          <p:cNvSpPr txBox="1"/>
          <p:nvPr/>
        </p:nvSpPr>
        <p:spPr>
          <a:xfrm>
            <a:off x="341586" y="2553174"/>
            <a:ext cx="8490714" cy="2631490"/>
          </a:xfrm>
          <a:prstGeom prst="rect">
            <a:avLst/>
          </a:prstGeom>
          <a:noFill/>
        </p:spPr>
        <p:txBody>
          <a:bodyPr wrap="square" rtlCol="0">
            <a:spAutoFit/>
          </a:bodyPr>
          <a:lstStyle/>
          <a:p>
            <a:pPr lvl="0" algn="just" eaLnBrk="0" fontAlgn="base" hangingPunct="0">
              <a:spcBef>
                <a:spcPct val="0"/>
              </a:spcBef>
              <a:spcAft>
                <a:spcPct val="0"/>
              </a:spcAft>
              <a:buClrTx/>
            </a:pPr>
            <a:r>
              <a:rPr lang="en-US" altLang="en-US" sz="1500" b="1" u="sng" dirty="0">
                <a:solidFill>
                  <a:schemeClr val="tx1"/>
                </a:solidFill>
                <a:latin typeface="Times New Roman" panose="02020603050405020304" pitchFamily="18" charset="0"/>
                <a:cs typeface="Times New Roman" panose="02020603050405020304" pitchFamily="18" charset="0"/>
              </a:rPr>
              <a:t>Conclusion:</a:t>
            </a:r>
          </a:p>
          <a:p>
            <a:pPr algn="just" eaLnBrk="0" fontAlgn="base" hangingPunct="0">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The churn analysis shows that customer attrition is mainly driven by behavioral factors like low engagement, inactivity, and reduced satisfaction rather than demographics. Financial patterns such as low credit usage and low balances also indicate higher churn risk. High-value customers are especially important due to their revenue contribution. Overall, churn is a complex, multi-factor problem that requires predictive models and proactive retention strategies instead of simple rule-based approaches.</a:t>
            </a:r>
          </a:p>
          <a:p>
            <a:pPr algn="just" eaLnBrk="0" fontAlgn="base" hangingPunct="0">
              <a:spcBef>
                <a:spcPct val="0"/>
              </a:spcBef>
              <a:spcAft>
                <a:spcPct val="0"/>
              </a:spcAft>
              <a:buClrTx/>
            </a:pPr>
            <a:endParaRPr lang="en-US" altLang="en-US" sz="15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pPr>
            <a:r>
              <a:rPr lang="en-US" altLang="en-US" sz="1500" b="1" u="sng" dirty="0">
                <a:solidFill>
                  <a:schemeClr val="tx1"/>
                </a:solidFill>
                <a:latin typeface="Times New Roman" panose="02020603050405020304" pitchFamily="18" charset="0"/>
                <a:cs typeface="Times New Roman" panose="02020603050405020304" pitchFamily="18" charset="0"/>
              </a:rPr>
              <a:t>GitHub Link:</a:t>
            </a:r>
            <a:r>
              <a:rPr lang="en-US" altLang="en-US" sz="1500" b="1" dirty="0">
                <a:solidFill>
                  <a:schemeClr val="tx1"/>
                </a:solidFill>
                <a:latin typeface="Times New Roman" panose="02020603050405020304" pitchFamily="18" charset="0"/>
                <a:cs typeface="Times New Roman" panose="02020603050405020304" pitchFamily="18" charset="0"/>
              </a:rPr>
              <a:t> </a:t>
            </a:r>
            <a:r>
              <a:rPr lang="en-US" altLang="en-US" sz="1500" dirty="0">
                <a:solidFill>
                  <a:schemeClr val="tx1"/>
                </a:solidFill>
                <a:latin typeface="Times New Roman" panose="02020603050405020304" pitchFamily="18" charset="0"/>
                <a:cs typeface="Times New Roman" panose="02020603050405020304" pitchFamily="18" charset="0"/>
                <a:hlinkClick r:id="rId4"/>
              </a:rPr>
              <a:t>https://github.com/Arpita368/Bank-Churn-Prediction</a:t>
            </a:r>
            <a:endParaRPr lang="en-US" altLang="en-US" sz="15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pPr>
            <a:endParaRPr lang="en-US" altLang="en-US" sz="1500" dirty="0">
              <a:solidFill>
                <a:schemeClr val="tx1"/>
              </a:solidFill>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ClrTx/>
            </a:pPr>
            <a:r>
              <a:rPr lang="en-US" altLang="en-US" sz="1500" b="1" u="sng" dirty="0">
                <a:solidFill>
                  <a:schemeClr val="tx1"/>
                </a:solidFill>
                <a:latin typeface="Times New Roman" panose="02020603050405020304" pitchFamily="18" charset="0"/>
                <a:cs typeface="Times New Roman" panose="02020603050405020304" pitchFamily="18" charset="0"/>
              </a:rPr>
              <a:t>predictions.csv:</a:t>
            </a:r>
            <a:r>
              <a:rPr lang="en-US" altLang="en-US" sz="1500" b="1" dirty="0">
                <a:solidFill>
                  <a:schemeClr val="tx1"/>
                </a:solidFill>
                <a:latin typeface="Times New Roman" panose="02020603050405020304" pitchFamily="18" charset="0"/>
                <a:cs typeface="Times New Roman" panose="02020603050405020304" pitchFamily="18" charset="0"/>
              </a:rPr>
              <a:t> </a:t>
            </a:r>
            <a:r>
              <a:rPr lang="en-US" altLang="en-US" sz="1500" dirty="0">
                <a:solidFill>
                  <a:schemeClr val="tx1"/>
                </a:solidFill>
                <a:latin typeface="Times New Roman" panose="02020603050405020304" pitchFamily="18" charset="0"/>
                <a:cs typeface="Times New Roman" panose="02020603050405020304" pitchFamily="18" charset="0"/>
                <a:hlinkClick r:id="rId5"/>
              </a:rPr>
              <a:t>https://github.com/Arpita368/Bank-Churn-Prediction/blob/main/outputs/predictions.csv</a:t>
            </a:r>
            <a:endParaRPr lang="en-US" altLang="en-US" sz="15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5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8512694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759</TotalTime>
  <Words>2216</Words>
  <Application>Microsoft Office PowerPoint</Application>
  <PresentationFormat>On-screen Show (16:9)</PresentationFormat>
  <Paragraphs>233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Cambria Math</vt:lpstr>
      <vt:lpstr>Arial</vt:lpstr>
      <vt:lpstr>Times New Roman</vt:lpstr>
      <vt:lpstr>Simple Light</vt:lpstr>
      <vt:lpstr>Fractal Forge</vt:lpstr>
      <vt:lpstr>Banking Customer Churn Prediction</vt:lpstr>
      <vt:lpstr>Project 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Nutan Sonparote</dc:creator>
  <cp:lastModifiedBy>Nutan Sonparote</cp:lastModifiedBy>
  <cp:revision>61</cp:revision>
  <dcterms:modified xsi:type="dcterms:W3CDTF">2026-05-23T11:28:46Z</dcterms:modified>
</cp:coreProperties>
</file>